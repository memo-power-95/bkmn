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3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5332" autoAdjust="0"/>
  </p:normalViewPr>
  <p:slideViewPr>
    <p:cSldViewPr snapToGrid="0">
      <p:cViewPr varScale="1">
        <p:scale>
          <a:sx n="114" d="100"/>
          <a:sy n="114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EB0B-3736-454C-BDC9-CFE6B03A8AA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6203-DBE1-497C-BB2D-98327BF1F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264">
              <a:defRPr/>
            </a:pPr>
            <a:endParaRPr lang="en-US" altLang="ko-KR" dirty="0">
              <a:solidFill>
                <a:schemeClr val="tx1"/>
              </a:solidFill>
              <a:latin typeface="Arial Narrow" pitchFamily="34" charset="0"/>
              <a:ea typeface="가는둥근제목체" pitchFamily="18" charset="-127"/>
              <a:cs typeface="Times New Roman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883B-7D6F-4E64-B93B-9457A9247E9C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9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100000" y="536107"/>
            <a:ext cx="800477" cy="1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1200" b="1" u="none" spc="-30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 </a:t>
            </a:r>
            <a:r>
              <a:rPr lang="en-US" altLang="ko-KR" sz="1200" b="1" u="none" spc="-30" dirty="0">
                <a:solidFill>
                  <a:schemeClr val="tx1"/>
                </a:solidFill>
              </a:rPr>
              <a:t>Idea 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발상</a:t>
            </a:r>
            <a:endParaRPr lang="en-US" altLang="ko-KR" sz="1800" b="1" u="none" spc="-30" dirty="0">
              <a:solidFill>
                <a:schemeClr val="tx1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12BBBE0-E98F-588B-E7C8-2FCC7B62B5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013" y="507035"/>
            <a:ext cx="8957817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6BEC9B-7510-3F9F-4052-5C6CCCB79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550" y="254538"/>
            <a:ext cx="924824" cy="26937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B8192F-9FA3-6243-E1A7-4CD2AC29FCAE}"/>
              </a:ext>
            </a:extLst>
          </p:cNvPr>
          <p:cNvSpPr txBox="1"/>
          <p:nvPr userDrawn="1"/>
        </p:nvSpPr>
        <p:spPr>
          <a:xfrm>
            <a:off x="7635488" y="322539"/>
            <a:ext cx="114382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○ 완료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△ 진행 중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X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불필요</a:t>
            </a:r>
            <a:endParaRPr lang="ko-KR" altLang="en-US" sz="800" spc="-40" baseline="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MSIPCMContentMarking" descr="{&quot;HashCode&quot;:1951497329,&quot;Placement&quot;:&quot;Footer&quot;,&quot;Top&quot;:521.91,&quot;Left&quot;:0.0,&quot;SlideWidth&quot;:780,&quot;SlideHeight&quot;:540}">
            <a:extLst>
              <a:ext uri="{FF2B5EF4-FFF2-40B4-BE49-F238E27FC236}">
                <a16:creationId xmlns:a16="http://schemas.microsoft.com/office/drawing/2014/main" id="{12AAB368-A7C1-43AE-BFC6-ABE9638B5267}"/>
              </a:ext>
            </a:extLst>
          </p:cNvPr>
          <p:cNvSpPr txBox="1"/>
          <p:nvPr userDrawn="1"/>
        </p:nvSpPr>
        <p:spPr>
          <a:xfrm>
            <a:off x="0" y="6628257"/>
            <a:ext cx="4632731" cy="229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900">
                <a:solidFill>
                  <a:srgbClr val="808080"/>
                </a:solidFill>
                <a:latin typeface="LG스마트체 SemiBold" panose="020B0600000101010101" pitchFamily="50" charset="-127"/>
              </a:rPr>
              <a:t>LG Innotek Confidential : This document is protected by security policies and laws.</a:t>
            </a:r>
            <a:endParaRPr lang="ko-KR" altLang="en-US" sz="900">
              <a:solidFill>
                <a:srgbClr val="808080"/>
              </a:solidFill>
              <a:latin typeface="LG스마트체 SemiBold" panose="020B0600000101010101" pitchFamily="50" charset="-127"/>
            </a:endParaRPr>
          </a:p>
        </p:txBody>
      </p:sp>
      <p:sp>
        <p:nvSpPr>
          <p:cNvPr id="5" name="MSIPCMContentMarking" descr="{&quot;HashCode&quot;:166943725,&quot;Placement&quot;:&quot;Header&quot;,&quot;Top&quot;:0.0,&quot;Left&quot;:685.0934,&quot;SlideWidth&quot;:780,&quot;SlideHeight&quot;:540}">
            <a:extLst>
              <a:ext uri="{FF2B5EF4-FFF2-40B4-BE49-F238E27FC236}">
                <a16:creationId xmlns:a16="http://schemas.microsoft.com/office/drawing/2014/main" id="{1C6DA701-D2FC-45C4-96C0-A0240BD62C56}"/>
              </a:ext>
            </a:extLst>
          </p:cNvPr>
          <p:cNvSpPr txBox="1"/>
          <p:nvPr userDrawn="1"/>
        </p:nvSpPr>
        <p:spPr>
          <a:xfrm>
            <a:off x="8700686" y="0"/>
            <a:ext cx="1205314" cy="2604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C0004B"/>
                </a:solidFill>
                <a:latin typeface="LG스마트체2.0 Bold" panose="020B0600000101010101" pitchFamily="50" charset="-127"/>
              </a:rPr>
              <a:t>[Confidential]</a:t>
            </a:r>
            <a:endParaRPr lang="ko-KR" altLang="en-US" sz="1100">
              <a:solidFill>
                <a:srgbClr val="C0004B"/>
              </a:solidFill>
              <a:latin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4C45B1D-E888-4864-B011-5E6CCF1F7936}"/>
              </a:ext>
            </a:extLst>
          </p:cNvPr>
          <p:cNvGrpSpPr/>
          <p:nvPr/>
        </p:nvGrpSpPr>
        <p:grpSpPr>
          <a:xfrm>
            <a:off x="7091806" y="1855036"/>
            <a:ext cx="2728470" cy="4813582"/>
            <a:chOff x="7091806" y="1808152"/>
            <a:chExt cx="2609448" cy="4813582"/>
          </a:xfrm>
        </p:grpSpPr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7091806" y="2013357"/>
              <a:ext cx="2609448" cy="4608377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AutoShape 20"/>
            <p:cNvSpPr>
              <a:spLocks noChangeArrowheads="1"/>
            </p:cNvSpPr>
            <p:nvPr/>
          </p:nvSpPr>
          <p:spPr bwMode="auto">
            <a:xfrm>
              <a:off x="7091806" y="1808152"/>
              <a:ext cx="260944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419" altLang="ko-KR" sz="1400" b="1" kern="0" dirty="0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After </a:t>
              </a:r>
              <a:r>
                <a:rPr lang="es-419" altLang="ko-KR" sz="1400" b="1" kern="0" dirty="0" err="1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improvement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0F6EBB-F0F3-4470-A73A-8A760F7D4373}"/>
              </a:ext>
            </a:extLst>
          </p:cNvPr>
          <p:cNvGrpSpPr/>
          <p:nvPr/>
        </p:nvGrpSpPr>
        <p:grpSpPr>
          <a:xfrm>
            <a:off x="3203374" y="1855036"/>
            <a:ext cx="3816424" cy="4814324"/>
            <a:chOff x="3203374" y="1807410"/>
            <a:chExt cx="3816424" cy="4814324"/>
          </a:xfrm>
        </p:grpSpPr>
        <p:sp>
          <p:nvSpPr>
            <p:cNvPr id="66" name="AutoShape 20"/>
            <p:cNvSpPr>
              <a:spLocks noChangeArrowheads="1"/>
            </p:cNvSpPr>
            <p:nvPr/>
          </p:nvSpPr>
          <p:spPr bwMode="auto">
            <a:xfrm>
              <a:off x="3203374" y="2013358"/>
              <a:ext cx="3816424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AutoShape 20"/>
            <p:cNvSpPr>
              <a:spLocks noChangeArrowheads="1"/>
            </p:cNvSpPr>
            <p:nvPr/>
          </p:nvSpPr>
          <p:spPr bwMode="auto">
            <a:xfrm>
              <a:off x="3203374" y="1807410"/>
              <a:ext cx="3816424" cy="291459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</a:rPr>
                <a:t>Breakthrough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D6F9705-D935-4A94-8CF5-843F594B71F8}"/>
              </a:ext>
            </a:extLst>
          </p:cNvPr>
          <p:cNvGrpSpPr/>
          <p:nvPr/>
        </p:nvGrpSpPr>
        <p:grpSpPr>
          <a:xfrm>
            <a:off x="118050" y="1817277"/>
            <a:ext cx="3047476" cy="4813582"/>
            <a:chOff x="161878" y="1808152"/>
            <a:chExt cx="2969488" cy="4813582"/>
          </a:xfrm>
        </p:grpSpPr>
        <p:sp>
          <p:nvSpPr>
            <p:cNvPr id="44" name="AutoShape 20"/>
            <p:cNvSpPr>
              <a:spLocks noChangeArrowheads="1"/>
            </p:cNvSpPr>
            <p:nvPr/>
          </p:nvSpPr>
          <p:spPr bwMode="auto">
            <a:xfrm>
              <a:off x="161878" y="2013358"/>
              <a:ext cx="2969488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AutoShape 20"/>
            <p:cNvSpPr>
              <a:spLocks noChangeArrowheads="1"/>
            </p:cNvSpPr>
            <p:nvPr/>
          </p:nvSpPr>
          <p:spPr bwMode="auto">
            <a:xfrm>
              <a:off x="161878" y="1808152"/>
              <a:ext cx="296948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algn="ctr" latinLnBrk="0">
                <a:defRPr/>
              </a:pP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Before</a:t>
              </a:r>
              <a:r>
                <a:rPr lang="es-MX" altLang="ko-KR" sz="14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improvement</a:t>
              </a:r>
              <a:endParaRPr lang="ko-KR" altLang="en-US" sz="14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</p:grpSp>
      <p:sp>
        <p:nvSpPr>
          <p:cNvPr id="40" name="Rectangle 4"/>
          <p:cNvSpPr txBox="1">
            <a:spLocks noChangeArrowheads="1"/>
          </p:cNvSpPr>
          <p:nvPr/>
        </p:nvSpPr>
        <p:spPr bwMode="auto">
          <a:xfrm>
            <a:off x="54755" y="102355"/>
            <a:ext cx="7105346" cy="276999"/>
          </a:xfrm>
          <a:prstGeom prst="rect">
            <a:avLst/>
          </a:prstGeom>
          <a:noFill/>
        </p:spPr>
        <p:txBody>
          <a:bodyPr wrap="square" lIns="72000" tIns="0" rIns="3600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defTabSz="914400" latinLnBrk="1">
              <a:defRPr/>
            </a:pPr>
            <a:r>
              <a:rPr lang="en-US" altLang="ko-KR" sz="1800" b="1" spc="-30" dirty="0" smtClean="0">
                <a:solidFill>
                  <a:prstClr val="black"/>
                </a:solidFill>
                <a:latin typeface="LG스마트체 Regular" panose="020B0600000101010101" pitchFamily="50" charset="-127"/>
              </a:rPr>
              <a:t>Fast restart function deployed across the camera line</a:t>
            </a:r>
            <a:endParaRPr kumimoji="0" lang="ko-KR" altLang="en-US" sz="1800" b="1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7817" y="1169205"/>
            <a:ext cx="865304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latinLnBrk="1">
              <a:lnSpc>
                <a:spcPct val="110000"/>
              </a:lnSpc>
              <a:defRPr/>
            </a:pPr>
            <a:r>
              <a:rPr lang="en-US" altLang="ko-KR" sz="16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Install PCB, Fastening 1/3/4, AVI, Top Unloader and Top Cover</a:t>
            </a:r>
            <a:endParaRPr kumimoji="0" lang="en-US" altLang="ko-KR" sz="1600" b="1" i="0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A503ADC-8EA4-4A95-9C09-007B0C08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3" y="2168612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PHENOMENON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73F804E7-6ED1-4161-8C22-4CB1C70E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54" y="2168612"/>
            <a:ext cx="3355704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s-419" altLang="ko-KR" sz="1300" b="1" i="0" u="none" strike="noStrike" kern="1200" cap="none" spc="-5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IMPROVEMENTS</a:t>
            </a:r>
            <a:endParaRPr kumimoji="1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018B34FB-86FD-426E-BD3D-63EF790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2433268"/>
            <a:ext cx="3136204" cy="77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defTabSz="914400" latinLnBrk="1">
              <a:buFontTx/>
              <a:buChar char="-"/>
              <a:defRPr/>
            </a:pPr>
            <a:r>
              <a:rPr kumimoji="0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After any stop the operator had to run the full initialization, 2.5 to 3 minutes depending on the station, which reconnects the scanner, tests the cameras and restarts support processes that were already connected and verified.</a:t>
            </a:r>
          </a:p>
        </p:txBody>
      </p:sp>
      <p:sp>
        <p:nvSpPr>
          <p:cNvPr id="100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0" y="2212848"/>
            <a:ext cx="263347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300"/>
              </a:spcAft>
              <a:buNone/>
            </a:pPr>
            <a:r>
              <a:rPr lang="en-US" altLang="ko-KR" dirty="0" sz="1400" b="1"/>
              <a:t>EFFECT:</a:t>
            </a:r>
          </a:p>
          <a:p>
            <a:pPr algn="l" marL="171450" indent="-171450">
              <a:spcAft>
                <a:spcPts val="200"/>
              </a:spcAft>
              <a:buFont typeface="Arial"/>
              <a:buChar char="•"/>
            </a:pPr>
            <a:r>
              <a:rPr lang="en-US" altLang="ko-KR" dirty="0" sz="1000"/>
              <a:t>Recovery after a stop: 2.5-3 min → 10-15 s (over 90% less) on 7 stations.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7217E0C3-3242-462A-86FE-317BCFA54321}"/>
              </a:ext>
            </a:extLst>
          </p:cNvPr>
          <p:cNvGraphicFramePr>
            <a:graphicFrameLocks noGrp="1"/>
          </p:cNvGraphicFramePr>
          <p:nvPr/>
        </p:nvGraphicFramePr>
        <p:xfrm>
          <a:off x="8802980" y="1466757"/>
          <a:ext cx="1012824" cy="35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9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Level</a:t>
                      </a:r>
                      <a:r>
                        <a:rPr lang="ko-KR" altLang="en-US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A2D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정보화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지능화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275A48A6-063A-4695-8225-5094514F8224}"/>
              </a:ext>
            </a:extLst>
          </p:cNvPr>
          <p:cNvGraphicFramePr>
            <a:graphicFrameLocks noGrp="1"/>
          </p:cNvGraphicFramePr>
          <p:nvPr/>
        </p:nvGraphicFramePr>
        <p:xfrm>
          <a:off x="8807451" y="560208"/>
          <a:ext cx="1012827" cy="950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ko-KR" altLang="en-US" sz="700" b="1" kern="9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영역</a:t>
                      </a:r>
                      <a:endParaRPr lang="en-US" altLang="ko-KR" sz="700" b="1" kern="9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Analog</a:t>
                      </a:r>
                      <a:b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b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이물</a:t>
                      </a:r>
                      <a:r>
                        <a:rPr lang="en-US" altLang="ko-KR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  <a:endParaRPr lang="en-US" altLang="ko-KR" sz="7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</a:t>
                      </a: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○</a:t>
                      </a: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프로세스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안전환경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고객가치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80698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01739F50-273D-88B9-0185-931B6BCAB9B7}"/>
              </a:ext>
            </a:extLst>
          </p:cNvPr>
          <p:cNvGraphicFramePr>
            <a:graphicFrameLocks noGrp="1"/>
          </p:cNvGraphicFramePr>
          <p:nvPr/>
        </p:nvGraphicFramePr>
        <p:xfrm>
          <a:off x="7090565" y="28296"/>
          <a:ext cx="1658127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전파</a:t>
                      </a:r>
                      <a:endParaRPr lang="en-US" altLang="ko-KR" sz="800" b="1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광학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8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 Box 22">
            <a:extLst>
              <a:ext uri="{FF2B5EF4-FFF2-40B4-BE49-F238E27FC236}">
                <a16:creationId xmlns:a16="http://schemas.microsoft.com/office/drawing/2014/main" id="{4943835B-8DA4-4869-8C18-DA8250B6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57" y="4444213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PROBLEM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114F125-DEDC-4A5E-83D0-32A8D040BE99}"/>
              </a:ext>
            </a:extLst>
          </p:cNvPr>
          <p:cNvSpPr/>
          <p:nvPr/>
        </p:nvSpPr>
        <p:spPr>
          <a:xfrm>
            <a:off x="8543390" y="3093457"/>
            <a:ext cx="600604" cy="40664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8287475F-9343-43DB-A22C-AE7C32D6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853" y="2469063"/>
            <a:ext cx="3613965" cy="60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REINICIO RAPIDO button added to the main toolbar of each station. It calls the vendor's own initialization path, so all modules, the MES handshake and the pallet dialog behave identically.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FDA1CAA0-6C50-4F01-AABF-43A416B5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4753587"/>
            <a:ext cx="3136204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The vendor's initialization always runs its complete 24-node chain, with no path to resume without repeating checks that had already passed.</a:t>
            </a:r>
          </a:p>
          <a:p>
            <a:pPr defTabSz="914400" latinLnBrk="1">
              <a:defRPr/>
            </a:pPr>
            <a:endParaRPr lang="en-US" altLang="ko-KR" sz="11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Bottom Station has a restart feature, but it relies on a RestartProcess() method that the AcuraLibrary.dll of these stations does not declare.</a:t>
            </a:r>
            <a:r>
              <a:rPr lang="en-US" altLang="ko-KR" sz="11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/>
            </a: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/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7A66-96E5-67E7-0D50-F80DB89DD3EB}"/>
              </a:ext>
            </a:extLst>
          </p:cNvPr>
          <p:cNvSpPr txBox="1"/>
          <p:nvPr/>
        </p:nvSpPr>
        <p:spPr>
          <a:xfrm>
            <a:off x="4250616" y="576400"/>
            <a:ext cx="44980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55"/>
              </a:spcAft>
            </a:pP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Date : </a:t>
            </a:r>
            <a:r>
              <a:rPr lang="es-MX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en-US" altLang="ko-KR" sz="1000" b="1" spc="-29" dirty="0" smtClean="0">
                <a:latin typeface="Arial Narrow" panose="020B0606020202030204" pitchFamily="34" charset="0"/>
                <a:ea typeface="LG스마트체 Regular" panose="020B0600000101010101" pitchFamily="50" charset="-127"/>
              </a:rPr>
              <a:t>/09/2026</a:t>
            </a:r>
            <a:r>
              <a:rPr lang="ko-KR" altLang="en-US" sz="1000" b="1" spc="-29" dirty="0" smtClean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Writer : </a:t>
            </a:r>
            <a:r>
              <a:rPr lang="es-MX" altLang="ko-KR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Guillermo Carrillo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Division: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Team:</a:t>
            </a:r>
            <a:r>
              <a:rPr lang="ko-KR" altLang="en-US" sz="1000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Production</a:t>
            </a: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0" y="4251960"/>
            <a:ext cx="2633472" cy="146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300"/>
              </a:spcAft>
              <a:buNone/>
            </a:pPr>
            <a:r>
              <a:rPr lang="en-US" altLang="ko-KR" dirty="0" sz="1400" b="1"/>
              <a:t>IMPACT: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altLang="ko-KR" dirty="0" sz="900"/>
              <a:t>+771 pcs per day on Line 1; the line now runs faster when it is not stopped.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altLang="ko-KR" dirty="0" sz="900"/>
              <a:t>Stops still cost ~2,442 pcs/day, mostly at Unloader #02. Without them the line could reach ~18,850 pcs/day.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lang="en-US" altLang="ko-KR" dirty="0" sz="900"/>
              <a:t>Replicable to any station with the same SDK, about 30 min per station.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7620" y="5919793"/>
            <a:ext cx="36086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MES nodes are deliberately not skipped: skipping them left the station reporting ONLINE before the MES confirmed, and they cost no time.</a:t>
            </a:r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6917" y="3764733"/>
            <a:ext cx="16228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A flag makes only 3 of the 24 nodes return immediately: FilesMonitor, scanner connection and camera test. Everything else runs unchanged, including robot reset and NG discharge.</a:t>
            </a:r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graphicFrame>
        <p:nvGraphicFramePr>
          <p:cNvPr id="301" name="Production results table"/>
          <p:cNvGraphicFramePr>
            <a:graphicFrameLocks noGrp="1"/>
          </p:cNvGraphicFramePr>
          <p:nvPr/>
        </p:nvGraphicFramePr>
        <p:xfrm>
          <a:off x="7205472" y="3154680"/>
          <a:ext cx="2542032" cy="914400"/>
        </p:xfrm>
        <a:graphic>
          <a:graphicData uri="http://schemas.openxmlformats.org/drawingml/2006/table">
            <a:tbl>
              <a:tblPr firstRow="1"/>
              <a:tblGrid>
                <a:gridCol w="1152144"/>
                <a:gridCol w="457200"/>
                <a:gridCol w="457200"/>
                <a:gridCol w="475488"/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Line 1 KPI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 Aug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 Oct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Change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Output/day (pcs)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16,678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17,449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+4.6%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Run rate (pcs/h)*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738.5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785.5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+6.4%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Best hour (pcs)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869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1,003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+15.4%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Hours ≥ 900 pcs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z="800" b="1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02" name="Source note"/>
          <p:cNvSpPr txBox="1"/>
          <p:nvPr/>
        </p:nvSpPr>
        <p:spPr>
          <a:xfrm>
            <a:off x="7223760" y="6217920"/>
            <a:ext cx="2523744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en-US" altLang="ko-KR" dirty="0" sz="650">
                <a:solidFill>
                  <a:srgbClr val="7F7F7F"/>
                </a:solidFill>
              </a:rPr>
              <a:t>* Run rate = average of hours without stops. Source: hourly production report, TOP TLA Line 1 (12 Aug vs 1 Oct 2026). One-day comparison; reflects all updates combined; 05-07 h of 1 Oct estimated.</a:t>
            </a:r>
          </a:p>
        </p:txBody>
      </p:sp>
      <p:sp>
        <p:nvSpPr>
          <p:cNvPr id="401" name="Added box 401"/>
          <p:cNvSpPr/>
          <p:nvPr/>
        </p:nvSpPr>
        <p:spPr>
          <a:xfrm>
            <a:off x="201168" y="3721608"/>
            <a:ext cx="292608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dirty="0" sz="800" b="1">
                <a:solidFill>
                  <a:srgbClr val="595959"/>
                </a:solidFill>
                <a:latin typeface="Arial"/>
                <a:cs typeface="Arial"/>
              </a:rPr>
              <a:t>Baseline · Line 1, 12 Aug 2026</a:t>
            </a:r>
          </a:p>
        </p:txBody>
      </p:sp>
      <p:sp>
        <p:nvSpPr>
          <p:cNvPr id="402" name="Added box 402"/>
          <p:cNvSpPr/>
          <p:nvPr/>
        </p:nvSpPr>
        <p:spPr>
          <a:xfrm>
            <a:off x="201168" y="390448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1100" b="1">
                <a:solidFill>
                  <a:srgbClr val="A50034"/>
                </a:solidFill>
                <a:latin typeface="Arial"/>
                <a:cs typeface="Arial"/>
              </a:rPr>
              <a:t>2.5-3 min</a:t>
            </a:r>
          </a:p>
          <a:p>
            <a:pPr algn="ctr"/>
            <a:r>
              <a:rPr lang="en-US" altLang="ko-KR" dirty="0" sz="700">
                <a:solidFill>
                  <a:srgbClr val="404040"/>
                </a:solidFill>
                <a:latin typeface="Arial"/>
                <a:cs typeface="Arial"/>
              </a:rPr>
              <a:t>lost on every restart</a:t>
            </a:r>
          </a:p>
        </p:txBody>
      </p:sp>
      <p:sp>
        <p:nvSpPr>
          <p:cNvPr id="403" name="Added box 403"/>
          <p:cNvSpPr/>
          <p:nvPr/>
        </p:nvSpPr>
        <p:spPr>
          <a:xfrm>
            <a:off x="1188720" y="390448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1100" b="1">
                <a:solidFill>
                  <a:srgbClr val="A50034"/>
                </a:solidFill>
                <a:latin typeface="Arial"/>
                <a:cs typeface="Arial"/>
              </a:rPr>
              <a:t>~1,889 pcs</a:t>
            </a:r>
          </a:p>
          <a:p>
            <a:pPr algn="ctr"/>
            <a:r>
              <a:rPr lang="en-US" altLang="ko-KR" dirty="0" sz="700">
                <a:solidFill>
                  <a:srgbClr val="404040"/>
                </a:solidFill>
                <a:latin typeface="Arial"/>
                <a:cs typeface="Arial"/>
              </a:rPr>
              <a:t>lost to stops / day</a:t>
            </a:r>
          </a:p>
        </p:txBody>
      </p:sp>
      <p:sp>
        <p:nvSpPr>
          <p:cNvPr id="404" name="Added box 404"/>
          <p:cNvSpPr/>
          <p:nvPr/>
        </p:nvSpPr>
        <p:spPr>
          <a:xfrm>
            <a:off x="2176272" y="390448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1100" b="1">
                <a:solidFill>
                  <a:srgbClr val="404040"/>
                </a:solidFill>
                <a:latin typeface="Arial"/>
                <a:cs typeface="Arial"/>
              </a:rPr>
              <a:t>869 pcs</a:t>
            </a:r>
          </a:p>
          <a:p>
            <a:pPr algn="ctr"/>
            <a:r>
              <a:rPr lang="en-US" altLang="ko-KR" dirty="0" sz="700">
                <a:solidFill>
                  <a:srgbClr val="404040"/>
                </a:solidFill>
                <a:latin typeface="Arial"/>
                <a:cs typeface="Arial"/>
              </a:rPr>
              <a:t>best hour of the day</a:t>
            </a:r>
          </a:p>
        </p:txBody>
      </p:sp>
      <p:sp>
        <p:nvSpPr>
          <p:cNvPr id="405" name="Added box 405"/>
          <p:cNvSpPr/>
          <p:nvPr/>
        </p:nvSpPr>
        <p:spPr>
          <a:xfrm>
            <a:off x="3310128" y="347472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dirty="0" sz="800" b="1">
                <a:solidFill>
                  <a:srgbClr val="595959"/>
                </a:solidFill>
                <a:latin typeface="Arial"/>
                <a:cs typeface="Arial"/>
              </a:rPr>
              <a:t>Restart sequence after a stop</a:t>
            </a:r>
          </a:p>
        </p:txBody>
      </p:sp>
      <p:sp>
        <p:nvSpPr>
          <p:cNvPr id="406" name="Added box 406"/>
          <p:cNvSpPr/>
          <p:nvPr/>
        </p:nvSpPr>
        <p:spPr>
          <a:xfrm>
            <a:off x="3346704" y="3675887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800" b="1">
                <a:solidFill>
                  <a:srgbClr val="404040"/>
                </a:solidFill>
                <a:latin typeface="Arial"/>
                <a:cs typeface="Arial"/>
              </a:rPr>
              <a:t>Stop / alarm cleared</a:t>
            </a:r>
          </a:p>
        </p:txBody>
      </p:sp>
      <p:cxnSp>
        <p:nvCxnSpPr>
          <p:cNvPr id="407" name="Arrow 407"/>
          <p:cNvCxnSpPr/>
          <p:nvPr/>
        </p:nvCxnSpPr>
        <p:spPr>
          <a:xfrm>
            <a:off x="4315968" y="4005072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08" name="Added box 408"/>
          <p:cNvSpPr/>
          <p:nvPr/>
        </p:nvSpPr>
        <p:spPr>
          <a:xfrm>
            <a:off x="3346704" y="4105655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A50034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800" b="1">
                <a:solidFill>
                  <a:srgbClr val="FFFFFF"/>
                </a:solidFill>
                <a:latin typeface="Arial"/>
                <a:cs typeface="Arial"/>
              </a:rPr>
              <a:t>REINICIO RAPIDO</a:t>
            </a:r>
          </a:p>
          <a:p>
            <a:pPr algn="ctr"/>
            <a:r>
              <a:rPr lang="en-US" altLang="ko-KR" dirty="0" sz="700">
                <a:solidFill>
                  <a:srgbClr val="FFFFFF"/>
                </a:solidFill>
                <a:latin typeface="Arial"/>
                <a:cs typeface="Arial"/>
              </a:rPr>
              <a:t>one click on the toolbar</a:t>
            </a:r>
          </a:p>
        </p:txBody>
      </p:sp>
      <p:cxnSp>
        <p:nvCxnSpPr>
          <p:cNvPr id="409" name="Arrow 409"/>
          <p:cNvCxnSpPr/>
          <p:nvPr/>
        </p:nvCxnSpPr>
        <p:spPr>
          <a:xfrm>
            <a:off x="4315968" y="4434840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10" name="Added box 410"/>
          <p:cNvSpPr/>
          <p:nvPr/>
        </p:nvSpPr>
        <p:spPr>
          <a:xfrm>
            <a:off x="3346704" y="4535423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800" b="1">
                <a:solidFill>
                  <a:srgbClr val="404040"/>
                </a:solidFill>
                <a:latin typeface="Arial"/>
                <a:cs typeface="Arial"/>
              </a:rPr>
              <a:t>3 of 24 nodes skipped</a:t>
            </a:r>
          </a:p>
          <a:p>
            <a:pPr algn="ctr"/>
            <a:r>
              <a:rPr lang="en-US" altLang="ko-KR" dirty="0" sz="650">
                <a:solidFill>
                  <a:srgbClr val="404040"/>
                </a:solidFill>
                <a:latin typeface="Arial"/>
                <a:cs typeface="Arial"/>
              </a:rPr>
              <a:t>FilesMonitor · scanner · camera test</a:t>
            </a:r>
          </a:p>
        </p:txBody>
      </p:sp>
      <p:cxnSp>
        <p:nvCxnSpPr>
          <p:cNvPr id="411" name="Arrow 411"/>
          <p:cNvCxnSpPr/>
          <p:nvPr/>
        </p:nvCxnSpPr>
        <p:spPr>
          <a:xfrm>
            <a:off x="4315968" y="4864607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12" name="Added box 412"/>
          <p:cNvSpPr/>
          <p:nvPr/>
        </p:nvSpPr>
        <p:spPr>
          <a:xfrm>
            <a:off x="3346704" y="4965192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800" b="1">
                <a:solidFill>
                  <a:srgbClr val="404040"/>
                </a:solidFill>
                <a:latin typeface="Arial"/>
                <a:cs typeface="Arial"/>
              </a:rPr>
              <a:t>21 nodes run as usual</a:t>
            </a:r>
          </a:p>
          <a:p>
            <a:pPr algn="ctr"/>
            <a:r>
              <a:rPr lang="en-US" altLang="ko-KR" dirty="0" sz="650">
                <a:solidFill>
                  <a:srgbClr val="404040"/>
                </a:solidFill>
                <a:latin typeface="Arial"/>
                <a:cs typeface="Arial"/>
              </a:rPr>
              <a:t>MES · robot reset · NG discharge</a:t>
            </a:r>
          </a:p>
        </p:txBody>
      </p:sp>
      <p:cxnSp>
        <p:nvCxnSpPr>
          <p:cNvPr id="413" name="Arrow 413"/>
          <p:cNvCxnSpPr/>
          <p:nvPr/>
        </p:nvCxnSpPr>
        <p:spPr>
          <a:xfrm>
            <a:off x="4315968" y="5294376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14" name="Added box 414"/>
          <p:cNvSpPr/>
          <p:nvPr/>
        </p:nvSpPr>
        <p:spPr>
          <a:xfrm>
            <a:off x="3346704" y="5394959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00703C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dirty="0" sz="800" b="1">
                <a:solidFill>
                  <a:srgbClr val="FFFFFF"/>
                </a:solidFill>
                <a:latin typeface="Arial"/>
                <a:cs typeface="Arial"/>
              </a:rPr>
              <a:t>Running in 10-15 s</a:t>
            </a:r>
          </a:p>
        </p:txBody>
      </p:sp>
      <p:sp>
        <p:nvSpPr>
          <p:cNvPr id="415" name="Added box 415"/>
          <p:cNvSpPr/>
          <p:nvPr/>
        </p:nvSpPr>
        <p:spPr>
          <a:xfrm>
            <a:off x="7223760" y="5650992"/>
            <a:ext cx="2523744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dirty="0" sz="800" b="1">
                <a:solidFill>
                  <a:srgbClr val="404040"/>
                </a:solidFill>
                <a:latin typeface="Arial"/>
                <a:cs typeface="Arial"/>
              </a:rPr>
              <a:t>Next step</a:t>
            </a:r>
          </a:p>
          <a:p>
            <a:pPr algn="l"/>
            <a:r>
              <a:rPr lang="en-US" altLang="ko-KR" dirty="0" sz="700">
                <a:solidFill>
                  <a:srgbClr val="404040"/>
                </a:solidFill>
                <a:latin typeface="Arial"/>
                <a:cs typeface="Arial"/>
              </a:rPr>
              <a:t>Find the root cause of the Unloader #02 stops in the event log.</a:t>
            </a:r>
          </a:p>
        </p:txBody>
      </p:sp>
    </p:spTree>
    <p:extLst>
      <p:ext uri="{BB962C8B-B14F-4D97-AF65-F5344CB8AC3E}">
        <p14:creationId xmlns:p14="http://schemas.microsoft.com/office/powerpoint/2010/main" val="405597177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</TotalTime>
  <Words>299</Words>
  <Application>Microsoft Office PowerPoint</Application>
  <PresentationFormat>A4 Paper (210x297 mm)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LG스마트체 Regular</vt:lpstr>
      <vt:lpstr>LG스마트체 SemiBold</vt:lpstr>
      <vt:lpstr>LG스마트체2.0 Bold</vt:lpstr>
      <vt:lpstr>가는둥근제목체</vt:lpstr>
      <vt:lpstr>맑은 고딕</vt:lpstr>
      <vt:lpstr>바탕</vt:lpstr>
      <vt:lpstr>Arial</vt:lpstr>
      <vt:lpstr>Arial Narrow</vt:lpstr>
      <vt:lpstr>Times New Roman</vt:lpstr>
      <vt:lpstr>Wingdings</vt:lpstr>
      <vt:lpstr>3_Office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haeyun Jeong(정해윤)</dc:creator>
  <cp:lastModifiedBy>Saul Rodriguez Garduno</cp:lastModifiedBy>
  <cp:revision>53</cp:revision>
  <dcterms:created xsi:type="dcterms:W3CDTF">2024-01-23T23:13:38Z</dcterms:created>
  <dcterms:modified xsi:type="dcterms:W3CDTF">2026-09-19T02:09:13Z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8a968-831d-4cfc-b1f9-4367a1331151_Enabled">
    <vt:lpwstr>true</vt:lpwstr>
  </property>
  <property fmtid="{D5CDD505-2E9C-101B-9397-08002B2CF9AE}" pid="3" name="MSIP_Label_99b8a968-831d-4cfc-b1f9-4367a1331151_SetDate">
    <vt:lpwstr>2024-05-04T19:05:14Z</vt:lpwstr>
  </property>
  <property fmtid="{D5CDD505-2E9C-101B-9397-08002B2CF9AE}" pid="4" name="MSIP_Label_99b8a968-831d-4cfc-b1f9-4367a1331151_Method">
    <vt:lpwstr>Privileged</vt:lpwstr>
  </property>
  <property fmtid="{D5CDD505-2E9C-101B-9397-08002B2CF9AE}" pid="5" name="MSIP_Label_99b8a968-831d-4cfc-b1f9-4367a1331151_Name">
    <vt:lpwstr>Confidential</vt:lpwstr>
  </property>
  <property fmtid="{D5CDD505-2E9C-101B-9397-08002B2CF9AE}" pid="6" name="MSIP_Label_99b8a968-831d-4cfc-b1f9-4367a1331151_SiteId">
    <vt:lpwstr>e6c7989d-a5fe-4b7b-a335-3288406db2fd</vt:lpwstr>
  </property>
  <property fmtid="{D5CDD505-2E9C-101B-9397-08002B2CF9AE}" pid="7" name="MSIP_Label_99b8a968-831d-4cfc-b1f9-4367a1331151_ActionId">
    <vt:lpwstr>66310290-fea6-40d2-83bd-c8b58c1b5aea</vt:lpwstr>
  </property>
  <property fmtid="{D5CDD505-2E9C-101B-9397-08002B2CF9AE}" pid="8" name="MSIP_Label_99b8a968-831d-4cfc-b1f9-4367a1331151_ContentBits">
    <vt:lpwstr>3</vt:lpwstr>
  </property>
</Properties>
</file>