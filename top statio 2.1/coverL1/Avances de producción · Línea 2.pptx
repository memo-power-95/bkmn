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Public Sans" pitchFamily="34" charset="0"/>
      <p:regular r:id="rId17"/>
      <p:bold r:id="rId18"/>
    </p:embeddedFont>
    <p:embeddedFont>
      <p:font typeface="Oswald"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para el equipo de producción. Todos los números salen del tablero de la Top Unloader de la línea 2, la última máquina: cuenta cada pieza que sale de la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números para recordar. La línea saca 15 % más piezas en un día completo que a inicio de octubre, tuvo su mejor día y su mejor hora del periodo con las versiones 2.1, y los paros de más de 5 minutos bajaron a la mitad. Contra fines de septiembre, la mejora por día es de 7.6 %.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barra es un día. Las rellenas son días completos; las rayadas son días con menos de 22 horas de producción. El 13 de octubre fue el mejor día, con producción las 24 horas, y el 19 de octubre le siguió con 10,797. Del 14 al 17 de octubre hubo días incompletos con paros largos; el 15 se estuvo trabajando en el programa del robot de la Unloader. No hay archivos del 1 al 5 ni del 12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comparar parejo se usan solo los días completos de cada periodo: 27, 28 y 29 de septiembre; 9, 10 y 11 de octubre; 13, 18 y 19 de octubre. Piezas por hora sin paros es el promedio de las horas en que la línea no tuvo un paro grande. Un paro de más de 5 minutos es cuando pasan más de 5 minutos entre un pallet y el siguiente, por cualquier causa: alarma, falta de material, cambio de modelo o descanso. Inicio de octubre fue el punto bajo; con las versiones 2.1 se recuperó y superó a septiembre.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barra dice qué parte de las horas cayó en cada rango. Con las versiones 2.1 la mayoría de las horas queda arriba de 450 piezas. Ya no es una hora récord aislada: el ritmo es más parejo durante todo el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barra son las horas del día en que pasaron más de 5 minutos sin terminar un pallet. Incluye cualquier causa: alarmas, falta de material, cambios de modelo o descansos. Los días rayados con mucho tiempo perdido (8, 15 y 17 de octubre) fueron días incompletos con paros largos. La alarma que más se repite es la 1206, la corrección de la cámara fuera de rango: subió a inicio de octubre y bajó con las 2.1, pero sigue siendo la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mensaje principal: no se aceleró la máquina a la fuerza. El tiempo normal entre pallets se mantiene cerca del ideal de 88.6 segundos; a inicio de octubre iba un poco más lento, entre 88 y 92 segundos, y el 13 de octubre tuvo el mejor ritmo, 82 segundos. Lo que cambió es que se pierde menos tiempo entre pallets.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que ya estaba en el documento de actualizaciones, con los reportes de producción por hora de las dos Top Unloader de la línea 1. La línea corre más rápido cuando trabaja: más 6.4 % sin paros y una mejor hora de 1,003 piezas, con 5 horas arriba de 900 cuando en agosto no hubo ninguna. El total del día subió menos, 4.6 %, porque ese día los paros costaron más, casi todos en la Unloader número 2. En octubre faltaban dos horas que se rellenaron con el promedio del día; el ritmo sin paros y la mejor hora no dependen de 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cambios que más pesan para producción, sin entrar en lo técnico. El tablero permite ver el ritmo, los paros y las alarmas en la propia máquina. Las versiones 2.1 quitan esperas y hacen más rápida la comunicación con el robot. El reinicio rápido evita quitar y regresar piezas a mano después de un paro. Los rechazos del MES ya no congelan la máquina: la pieza se va al NG. Los botones de pallet ahorran pasos al operador, y los avisos dicen dónde está 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velocidad base ya está cerca del ideal, así que la siguiente forma de ganar piezas es parar menos. Las dos alarmas que más se repiten son la de la cámara y la del robot que no contesta. Y para confirmar la tendencia hay que seguir midiendo: son pocos días por periodo, e influyen el modelo, el material, la gente y los paros de cada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E2124"/>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E2124"/>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E2124"/>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E2124"/>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124"/>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8A1F25"/>
          </a:solidFill>
          <a:ln/>
        </p:spPr>
      </p:sp>
      <p:sp>
        <p:nvSpPr>
          <p:cNvPr id="3" name="Text 1"/>
          <p:cNvSpPr/>
          <p:nvPr/>
        </p:nvSpPr>
        <p:spPr>
          <a:xfrm>
            <a:off x="812800" y="558800"/>
            <a:ext cx="5232400"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D9A7AA"/>
                </a:solidFill>
                <a:latin typeface="Public Sans" pitchFamily="34" charset="0"/>
                <a:ea typeface="Public Sans" pitchFamily="34" charset="-122"/>
                <a:cs typeface="Public Sans" pitchFamily="34" charset="-120"/>
              </a:rPr>
              <a:t>LG INNOTEK · LÍNEA 2</a:t>
            </a:r>
            <a:endParaRPr lang="en-US" sz="1600" dirty="0"/>
          </a:p>
        </p:txBody>
      </p:sp>
      <p:sp>
        <p:nvSpPr>
          <p:cNvPr id="4" name="Text 2"/>
          <p:cNvSpPr/>
          <p:nvPr>
            <p:ph type="title"/>
          </p:nvPr>
        </p:nvSpPr>
        <p:spPr>
          <a:xfrm>
            <a:off x="812800" y="245110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F0"/>
                </a:solidFill>
                <a:latin typeface="Oswald" pitchFamily="34" charset="0"/>
                <a:ea typeface="Oswald" pitchFamily="34" charset="-122"/>
                <a:cs typeface="Oswald" pitchFamily="34" charset="-120"/>
              </a:rPr>
              <a:t>Avances de producción</a:t>
            </a:r>
            <a:endParaRPr lang="en-US" sz="6000" dirty="0"/>
          </a:p>
        </p:txBody>
      </p:sp>
      <p:sp>
        <p:nvSpPr>
          <p:cNvPr id="5" name="Text 3"/>
          <p:cNvSpPr/>
          <p:nvPr/>
        </p:nvSpPr>
        <p:spPr>
          <a:xfrm>
            <a:off x="812800" y="350520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F0"/>
                </a:solidFill>
                <a:latin typeface="Public Sans" pitchFamily="34" charset="0"/>
                <a:ea typeface="Public Sans" pitchFamily="34" charset="-122"/>
                <a:cs typeface="Public Sans" pitchFamily="34" charset="-120"/>
              </a:rPr>
              <a:t>Del 26 de septiembre al 20 de octubre de 2026</a:t>
            </a:r>
            <a:endParaRPr lang="en-US" sz="2200" dirty="0"/>
          </a:p>
        </p:txBody>
      </p:sp>
      <p:sp>
        <p:nvSpPr>
          <p:cNvPr id="6" name="Text 4"/>
          <p:cNvSpPr/>
          <p:nvPr/>
        </p:nvSpPr>
        <p:spPr>
          <a:xfrm>
            <a:off x="812800" y="41223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3C9"/>
                </a:solidFill>
                <a:latin typeface="Public Sans" pitchFamily="34" charset="0"/>
                <a:ea typeface="Public Sans" pitchFamily="34" charset="-122"/>
                <a:cs typeface="Public Sans" pitchFamily="34" charset="-120"/>
              </a:rPr>
              <a:t>Datos reales del tablero de la máquina · Guillermo Carrillo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124"/>
                </a:solidFill>
                <a:latin typeface="Oswald" pitchFamily="34" charset="0"/>
                <a:ea typeface="Oswald" pitchFamily="34" charset="-122"/>
                <a:cs typeface="Oswald" pitchFamily="34" charset="-120"/>
              </a:rPr>
              <a:t>Lo más importante</a:t>
            </a:r>
            <a:endParaRPr lang="en-US" sz="3600" dirty="0"/>
          </a:p>
        </p:txBody>
      </p:sp>
      <p:sp>
        <p:nvSpPr>
          <p:cNvPr id="3" name="Shape 1"/>
          <p:cNvSpPr/>
          <p:nvPr/>
        </p:nvSpPr>
        <p:spPr>
          <a:xfrm>
            <a:off x="812800" y="1620441"/>
            <a:ext cx="5181600" cy="1940520"/>
          </a:xfrm>
          <a:prstGeom prst="roundRect">
            <a:avLst>
              <a:gd name="adj" fmla="val 3927"/>
            </a:avLst>
          </a:prstGeom>
          <a:solidFill>
            <a:srgbClr val="FFFFFF"/>
          </a:solidFill>
          <a:ln/>
        </p:spPr>
      </p:sp>
      <p:sp>
        <p:nvSpPr>
          <p:cNvPr id="4" name="Shape 2"/>
          <p:cNvSpPr/>
          <p:nvPr/>
        </p:nvSpPr>
        <p:spPr>
          <a:xfrm>
            <a:off x="812800" y="1620441"/>
            <a:ext cx="5181600" cy="1940520"/>
          </a:xfrm>
          <a:custGeom>
            <a:avLst/>
            <a:gdLst/>
            <a:ahLst/>
            <a:cxnLst/>
            <a:rect l="l" t="t" r="r" b="b"/>
            <a:pathLst>
              <a:path w="5181600" h="1940520">
                <a:moveTo>
                  <a:pt x="76200" y="1940520"/>
                </a:moveTo>
                <a:lnTo>
                  <a:pt x="76200" y="1940520"/>
                </a:lnTo>
                <a:arcTo hR="76200" wR="76200" stAng="5400000" swAng="5400000"/>
                <a:lnTo>
                  <a:pt x="0" y="76200"/>
                </a:lnTo>
                <a:arcTo hR="76200" wR="76200" stAng="10800000" swAng="5400000"/>
                <a:lnTo>
                  <a:pt x="76200" y="0"/>
                </a:lnTo>
                <a:arcTo hR="76200" wR="25400" stAng="16200000" swAng="-5400000"/>
                <a:lnTo>
                  <a:pt x="50800" y="1864320"/>
                </a:lnTo>
                <a:arcTo hR="76200" wR="25400" stAng="10800000" swAng="-5400000"/>
                <a:close/>
              </a:path>
            </a:pathLst>
          </a:custGeom>
          <a:solidFill>
            <a:srgbClr val="8A1F25"/>
          </a:solidFill>
          <a:ln/>
        </p:spPr>
      </p:sp>
      <p:sp>
        <p:nvSpPr>
          <p:cNvPr id="5" name="Text 3"/>
          <p:cNvSpPr/>
          <p:nvPr/>
        </p:nvSpPr>
        <p:spPr>
          <a:xfrm>
            <a:off x="1117600" y="1849041"/>
            <a:ext cx="4761484"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8A1F25"/>
                </a:solidFill>
                <a:latin typeface="Oswald" pitchFamily="34" charset="0"/>
                <a:ea typeface="Oswald" pitchFamily="34" charset="-122"/>
                <a:cs typeface="Oswald" pitchFamily="34" charset="-120"/>
              </a:rPr>
              <a:t>+15 %</a:t>
            </a:r>
            <a:endParaRPr lang="en-US" sz="6000" dirty="0"/>
          </a:p>
        </p:txBody>
      </p:sp>
      <p:sp>
        <p:nvSpPr>
          <p:cNvPr id="6" name="Text 4"/>
          <p:cNvSpPr/>
          <p:nvPr/>
        </p:nvSpPr>
        <p:spPr>
          <a:xfrm>
            <a:off x="1117600" y="2763441"/>
            <a:ext cx="476148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piezas por día completo: 10,460 contra 9,090 a inicio de octubre</a:t>
            </a:r>
            <a:endParaRPr lang="en-US" sz="1600" dirty="0"/>
          </a:p>
        </p:txBody>
      </p:sp>
      <p:sp>
        <p:nvSpPr>
          <p:cNvPr id="7" name="Shape 5"/>
          <p:cNvSpPr/>
          <p:nvPr/>
        </p:nvSpPr>
        <p:spPr>
          <a:xfrm>
            <a:off x="6197600" y="1620441"/>
            <a:ext cx="5181600" cy="1940520"/>
          </a:xfrm>
          <a:prstGeom prst="roundRect">
            <a:avLst>
              <a:gd name="adj" fmla="val 3927"/>
            </a:avLst>
          </a:prstGeom>
          <a:solidFill>
            <a:srgbClr val="FFFFFF"/>
          </a:solidFill>
          <a:ln/>
        </p:spPr>
      </p:sp>
      <p:sp>
        <p:nvSpPr>
          <p:cNvPr id="8" name="Shape 6"/>
          <p:cNvSpPr/>
          <p:nvPr/>
        </p:nvSpPr>
        <p:spPr>
          <a:xfrm>
            <a:off x="6197600" y="1620441"/>
            <a:ext cx="5181600" cy="1940520"/>
          </a:xfrm>
          <a:custGeom>
            <a:avLst/>
            <a:gdLst/>
            <a:ahLst/>
            <a:cxnLst/>
            <a:rect l="l" t="t" r="r" b="b"/>
            <a:pathLst>
              <a:path w="5181600" h="1940520">
                <a:moveTo>
                  <a:pt x="76200" y="1940520"/>
                </a:moveTo>
                <a:lnTo>
                  <a:pt x="76200" y="1940520"/>
                </a:lnTo>
                <a:arcTo hR="76200" wR="76200" stAng="5400000" swAng="5400000"/>
                <a:lnTo>
                  <a:pt x="0" y="76200"/>
                </a:lnTo>
                <a:arcTo hR="76200" wR="76200" stAng="10800000" swAng="5400000"/>
                <a:lnTo>
                  <a:pt x="76200" y="0"/>
                </a:lnTo>
                <a:arcTo hR="76200" wR="25400" stAng="16200000" swAng="-5400000"/>
                <a:lnTo>
                  <a:pt x="50800" y="1864320"/>
                </a:lnTo>
                <a:arcTo hR="76200" wR="25400" stAng="10800000" swAng="-5400000"/>
                <a:close/>
              </a:path>
            </a:pathLst>
          </a:custGeom>
          <a:solidFill>
            <a:srgbClr val="8A1F25"/>
          </a:solidFill>
          <a:ln/>
        </p:spPr>
      </p:sp>
      <p:sp>
        <p:nvSpPr>
          <p:cNvPr id="9" name="Text 7"/>
          <p:cNvSpPr/>
          <p:nvPr/>
        </p:nvSpPr>
        <p:spPr>
          <a:xfrm>
            <a:off x="6502400" y="1849041"/>
            <a:ext cx="4761484"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8A1F25"/>
                </a:solidFill>
                <a:latin typeface="Oswald" pitchFamily="34" charset="0"/>
                <a:ea typeface="Oswald" pitchFamily="34" charset="-122"/>
                <a:cs typeface="Oswald" pitchFamily="34" charset="-120"/>
              </a:rPr>
              <a:t>11,136</a:t>
            </a:r>
            <a:endParaRPr lang="en-US" sz="6000" dirty="0"/>
          </a:p>
        </p:txBody>
      </p:sp>
      <p:sp>
        <p:nvSpPr>
          <p:cNvPr id="10" name="Text 8"/>
          <p:cNvSpPr/>
          <p:nvPr/>
        </p:nvSpPr>
        <p:spPr>
          <a:xfrm>
            <a:off x="6502400" y="2763441"/>
            <a:ext cx="4876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piezas en el mejor día del periodo (13 de octubre)</a:t>
            </a:r>
            <a:endParaRPr lang="en-US" sz="1600" dirty="0"/>
          </a:p>
        </p:txBody>
      </p:sp>
      <p:sp>
        <p:nvSpPr>
          <p:cNvPr id="11" name="Shape 9"/>
          <p:cNvSpPr/>
          <p:nvPr/>
        </p:nvSpPr>
        <p:spPr>
          <a:xfrm>
            <a:off x="812800" y="3764161"/>
            <a:ext cx="5181600" cy="1656060"/>
          </a:xfrm>
          <a:prstGeom prst="roundRect">
            <a:avLst>
              <a:gd name="adj" fmla="val 4601"/>
            </a:avLst>
          </a:prstGeom>
          <a:solidFill>
            <a:srgbClr val="FFFFFF"/>
          </a:solidFill>
          <a:ln/>
        </p:spPr>
      </p:sp>
      <p:sp>
        <p:nvSpPr>
          <p:cNvPr id="12" name="Shape 10"/>
          <p:cNvSpPr/>
          <p:nvPr/>
        </p:nvSpPr>
        <p:spPr>
          <a:xfrm>
            <a:off x="812800" y="3764161"/>
            <a:ext cx="5181600" cy="1656060"/>
          </a:xfrm>
          <a:custGeom>
            <a:avLst/>
            <a:gdLst/>
            <a:ahLst/>
            <a:cxnLst/>
            <a:rect l="l" t="t" r="r" b="b"/>
            <a:pathLst>
              <a:path w="5181600" h="1656060">
                <a:moveTo>
                  <a:pt x="76200" y="1656060"/>
                </a:moveTo>
                <a:lnTo>
                  <a:pt x="76200" y="1656060"/>
                </a:lnTo>
                <a:arcTo hR="76200" wR="76200" stAng="5400000" swAng="5400000"/>
                <a:lnTo>
                  <a:pt x="0" y="76200"/>
                </a:lnTo>
                <a:arcTo hR="76200" wR="76200" stAng="10800000" swAng="5400000"/>
                <a:lnTo>
                  <a:pt x="76200" y="0"/>
                </a:lnTo>
                <a:arcTo hR="76200" wR="25400" stAng="16200000" swAng="-5400000"/>
                <a:lnTo>
                  <a:pt x="50800" y="1579860"/>
                </a:lnTo>
                <a:arcTo hR="76200" wR="25400" stAng="10800000" swAng="-5400000"/>
                <a:close/>
              </a:path>
            </a:pathLst>
          </a:custGeom>
          <a:solidFill>
            <a:srgbClr val="8A1F25"/>
          </a:solidFill>
          <a:ln/>
        </p:spPr>
      </p:sp>
      <p:sp>
        <p:nvSpPr>
          <p:cNvPr id="13" name="Text 11"/>
          <p:cNvSpPr/>
          <p:nvPr/>
        </p:nvSpPr>
        <p:spPr>
          <a:xfrm>
            <a:off x="1117600" y="3992761"/>
            <a:ext cx="4761484"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8A1F25"/>
                </a:solidFill>
                <a:latin typeface="Oswald" pitchFamily="34" charset="0"/>
                <a:ea typeface="Oswald" pitchFamily="34" charset="-122"/>
                <a:cs typeface="Oswald" pitchFamily="34" charset="-120"/>
              </a:rPr>
              <a:t>517</a:t>
            </a:r>
            <a:endParaRPr lang="en-US" sz="6000" dirty="0"/>
          </a:p>
        </p:txBody>
      </p:sp>
      <p:sp>
        <p:nvSpPr>
          <p:cNvPr id="14" name="Text 12"/>
          <p:cNvSpPr/>
          <p:nvPr/>
        </p:nvSpPr>
        <p:spPr>
          <a:xfrm>
            <a:off x="1117600" y="4907161"/>
            <a:ext cx="4761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piezas en la mejor hora (13 de octubre, 21:00)</a:t>
            </a:r>
            <a:endParaRPr lang="en-US" sz="1600" dirty="0"/>
          </a:p>
        </p:txBody>
      </p:sp>
      <p:sp>
        <p:nvSpPr>
          <p:cNvPr id="15" name="Shape 13"/>
          <p:cNvSpPr/>
          <p:nvPr/>
        </p:nvSpPr>
        <p:spPr>
          <a:xfrm>
            <a:off x="6197600" y="3764161"/>
            <a:ext cx="5181600" cy="1656060"/>
          </a:xfrm>
          <a:prstGeom prst="roundRect">
            <a:avLst>
              <a:gd name="adj" fmla="val 4601"/>
            </a:avLst>
          </a:prstGeom>
          <a:solidFill>
            <a:srgbClr val="FFFFFF"/>
          </a:solidFill>
          <a:ln/>
        </p:spPr>
      </p:sp>
      <p:sp>
        <p:nvSpPr>
          <p:cNvPr id="16" name="Shape 14"/>
          <p:cNvSpPr/>
          <p:nvPr/>
        </p:nvSpPr>
        <p:spPr>
          <a:xfrm>
            <a:off x="6197600" y="3764161"/>
            <a:ext cx="5181600" cy="1656060"/>
          </a:xfrm>
          <a:custGeom>
            <a:avLst/>
            <a:gdLst/>
            <a:ahLst/>
            <a:cxnLst/>
            <a:rect l="l" t="t" r="r" b="b"/>
            <a:pathLst>
              <a:path w="5181600" h="1656060">
                <a:moveTo>
                  <a:pt x="76200" y="1656060"/>
                </a:moveTo>
                <a:lnTo>
                  <a:pt x="76200" y="1656060"/>
                </a:lnTo>
                <a:arcTo hR="76200" wR="76200" stAng="5400000" swAng="5400000"/>
                <a:lnTo>
                  <a:pt x="0" y="76200"/>
                </a:lnTo>
                <a:arcTo hR="76200" wR="76200" stAng="10800000" swAng="5400000"/>
                <a:lnTo>
                  <a:pt x="76200" y="0"/>
                </a:lnTo>
                <a:arcTo hR="76200" wR="25400" stAng="16200000" swAng="-5400000"/>
                <a:lnTo>
                  <a:pt x="50800" y="1579860"/>
                </a:lnTo>
                <a:arcTo hR="76200" wR="25400" stAng="10800000" swAng="-5400000"/>
                <a:close/>
              </a:path>
            </a:pathLst>
          </a:custGeom>
          <a:solidFill>
            <a:srgbClr val="8A1F25"/>
          </a:solidFill>
          <a:ln/>
        </p:spPr>
      </p:sp>
      <p:sp>
        <p:nvSpPr>
          <p:cNvPr id="17" name="Text 15"/>
          <p:cNvSpPr/>
          <p:nvPr/>
        </p:nvSpPr>
        <p:spPr>
          <a:xfrm>
            <a:off x="6502400" y="3992761"/>
            <a:ext cx="4761484"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8A1F25"/>
                </a:solidFill>
                <a:latin typeface="Oswald" pitchFamily="34" charset="0"/>
                <a:ea typeface="Oswald" pitchFamily="34" charset="-122"/>
                <a:cs typeface="Oswald" pitchFamily="34" charset="-120"/>
              </a:rPr>
              <a:t>−50 %</a:t>
            </a:r>
            <a:endParaRPr lang="en-US" sz="6000" dirty="0"/>
          </a:p>
        </p:txBody>
      </p:sp>
      <p:sp>
        <p:nvSpPr>
          <p:cNvPr id="18" name="Text 16"/>
          <p:cNvSpPr/>
          <p:nvPr/>
        </p:nvSpPr>
        <p:spPr>
          <a:xfrm>
            <a:off x="6502400" y="4907161"/>
            <a:ext cx="4761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paros de más de 5 minutos: de 12.7 a 6.3 por día</a:t>
            </a:r>
            <a:endParaRPr lang="en-US" sz="16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F77"/>
                </a:solidFill>
                <a:latin typeface="Public Sans" pitchFamily="34" charset="0"/>
                <a:ea typeface="Public Sans" pitchFamily="34" charset="-122"/>
                <a:cs typeface="Public Sans" pitchFamily="34" charset="-120"/>
              </a:rPr>
              <a:t>Comparación de días completos: 13-20 oct (versiones 2.1) contra 6-11 oct · Fuente: tablero de la Top Unloader, línea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124"/>
                </a:solidFill>
                <a:latin typeface="Oswald" pitchFamily="34" charset="0"/>
                <a:ea typeface="Oswald" pitchFamily="34" charset="-122"/>
                <a:cs typeface="Oswald" pitchFamily="34" charset="-120"/>
              </a:rPr>
              <a:t>El mejor día: 11,136 piezas el 13 de octubre</a:t>
            </a:r>
            <a:endParaRPr lang="en-US" sz="3600" dirty="0"/>
          </a:p>
        </p:txBody>
      </p:sp>
      <p:sp>
        <p:nvSpPr>
          <p:cNvPr id="3" name="Shape 1"/>
          <p:cNvSpPr/>
          <p:nvPr/>
        </p:nvSpPr>
        <p:spPr>
          <a:xfrm>
            <a:off x="812800" y="1518841"/>
            <a:ext cx="10566400" cy="4089400"/>
          </a:xfrm>
          <a:prstGeom prst="roundRect">
            <a:avLst>
              <a:gd name="adj" fmla="val 1863"/>
            </a:avLst>
          </a:prstGeom>
          <a:solidFill>
            <a:srgbClr val="FFFFFF"/>
          </a:solidFill>
          <a:ln/>
        </p:spPr>
      </p:sp>
      <p:pic>
        <p:nvPicPr>
          <p:cNvPr id="4" name="Image 0" descr="Piezas por día del 26 de septiembre al 20 de octubre, por periodo; los días incompletos van rayados">    </p:cNvPr>
          <p:cNvPicPr>
            <a:picLocks noChangeAspect="1"/>
          </p:cNvPicPr>
          <p:nvPr/>
        </p:nvPicPr>
        <p:blipFill>
          <a:blip r:embed="rId1"/>
          <a:srcRect l="0" r="0" t="-22" b="-22"/>
          <a:stretch/>
        </p:blipFill>
        <p:spPr>
          <a:xfrm>
            <a:off x="1397000" y="1620441"/>
            <a:ext cx="9398000" cy="3886200"/>
          </a:xfrm>
          <a:prstGeom prst="rect">
            <a:avLst/>
          </a:prstGeom>
        </p:spPr>
      </p:pic>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F77"/>
                </a:solidFill>
                <a:latin typeface="Public Sans" pitchFamily="34" charset="0"/>
                <a:ea typeface="Public Sans" pitchFamily="34" charset="-122"/>
                <a:cs typeface="Public Sans" pitchFamily="34" charset="-120"/>
              </a:rPr>
              <a:t>Barras rayadas: días con menos de 22 horas de producción, no se usan para comparar · Fuente: tablero de la Top Unloader, línea 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9695"/>
          </a:xfrm>
          <a:prstGeom prst="rect">
            <a:avLst/>
          </a:prstGeom>
          <a:noFill/>
          <a:ln/>
        </p:spPr>
        <p:txBody>
          <a:bodyPr wrap="square" lIns="0" tIns="0" rIns="0" bIns="0" rtlCol="0" anchor="t">
            <a:normAutofit/>
          </a:bodyPr>
          <a:lstStyle/>
          <a:p>
            <a:pPr algn="l" indent="0" marL="0">
              <a:lnSpc>
                <a:spcPts val="3119"/>
              </a:lnSpc>
              <a:buNone/>
            </a:pPr>
            <a:r>
              <a:rPr lang="en-US" sz="2835" b="1" i="0" dirty="0">
                <a:solidFill>
                  <a:srgbClr val="1E2124"/>
                </a:solidFill>
                <a:latin typeface="Oswald" pitchFamily="34" charset="0"/>
                <a:ea typeface="Oswald" pitchFamily="34" charset="-122"/>
                <a:cs typeface="Oswald" pitchFamily="34" charset="-120"/>
              </a:rPr>
              <a:t>Tres periodos, comparados con días completos</a:t>
            </a:r>
            <a:endParaRPr lang="en-US" sz="2835" dirty="0"/>
          </a:p>
        </p:txBody>
      </p:sp>
      <p:sp>
        <p:nvSpPr>
          <p:cNvPr id="3" name="Shape 1"/>
          <p:cNvSpPr/>
          <p:nvPr/>
        </p:nvSpPr>
        <p:spPr>
          <a:xfrm>
            <a:off x="812800" y="1511895"/>
            <a:ext cx="10566400" cy="4330105"/>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24595"/>
          <a:ext cx="10553700" cy="4316809"/>
        </p:xfrm>
        <a:graphic>
          <a:graphicData uri="http://schemas.openxmlformats.org/drawingml/2006/table">
            <a:tbl>
              <a:tblPr/>
              <a:tblGrid>
                <a:gridCol w="2638425"/>
                <a:gridCol w="2638425"/>
                <a:gridCol w="2638425"/>
                <a:gridCol w="2638425"/>
              </a:tblGrid>
              <a:tr h="474960">
                <a:tc>
                  <a:txBody>
                    <a:bodyPr/>
                    <a:lstStyle/>
                    <a:p>
                      <a:pPr indent="0" marL="0">
                        <a:lnSpc>
                          <a:spcPts val="2037"/>
                        </a:lnSpc>
                        <a:buNone/>
                      </a:pPr>
                      <a:r>
                        <a:rPr lang="en-US" sz="1455" b="1" dirty="0">
                          <a:solidFill>
                            <a:srgbClr val="F6F4F0"/>
                          </a:solidFill>
                          <a:latin typeface="Public Sans" pitchFamily="34" charset="0"/>
                          <a:ea typeface="Public Sans" pitchFamily="34" charset="-122"/>
                          <a:cs typeface="Public Sans" pitchFamily="34" charset="-120"/>
                        </a:rPr>
                        <a:t>Indicador por día completo</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037"/>
                        </a:lnSpc>
                        <a:buNone/>
                      </a:pPr>
                      <a:r>
                        <a:rPr lang="en-US" sz="1455" b="1" dirty="0">
                          <a:solidFill>
                            <a:srgbClr val="F6F4F0"/>
                          </a:solidFill>
                          <a:latin typeface="Public Sans" pitchFamily="34" charset="0"/>
                          <a:ea typeface="Public Sans" pitchFamily="34" charset="-122"/>
                          <a:cs typeface="Public Sans" pitchFamily="34" charset="-120"/>
                        </a:rPr>
                        <a:t>26-30 sep</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037"/>
                        </a:lnSpc>
                        <a:buNone/>
                      </a:pPr>
                      <a:r>
                        <a:rPr lang="en-US" sz="1455" b="1" dirty="0">
                          <a:solidFill>
                            <a:srgbClr val="F6F4F0"/>
                          </a:solidFill>
                          <a:latin typeface="Public Sans" pitchFamily="34" charset="0"/>
                          <a:ea typeface="Public Sans" pitchFamily="34" charset="-122"/>
                          <a:cs typeface="Public Sans" pitchFamily="34" charset="-120"/>
                        </a:rPr>
                        <a:t>6-11 oct</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037"/>
                        </a:lnSpc>
                        <a:buNone/>
                      </a:pPr>
                      <a:r>
                        <a:rPr lang="en-US" sz="1455" b="1" dirty="0">
                          <a:solidFill>
                            <a:srgbClr val="F6F4F0"/>
                          </a:solidFill>
                          <a:latin typeface="Public Sans" pitchFamily="34" charset="0"/>
                          <a:ea typeface="Public Sans" pitchFamily="34" charset="-122"/>
                          <a:cs typeface="Public Sans" pitchFamily="34" charset="-120"/>
                        </a:rPr>
                        <a:t>13-20 oct</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74960">
                <a:tc>
                  <a:txBody>
                    <a:bodyPr/>
                    <a:lstStyle/>
                    <a:p>
                      <a:pP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Piezas por día</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9,725</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9,090</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8A1F25"/>
                          </a:solidFill>
                          <a:latin typeface="Public Sans" pitchFamily="34" charset="0"/>
                          <a:ea typeface="Public Sans" pitchFamily="34" charset="-122"/>
                          <a:cs typeface="Public Sans" pitchFamily="34" charset="-120"/>
                        </a:rPr>
                        <a:t>10,460</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74960">
                <a:tc>
                  <a:txBody>
                    <a:bodyPr/>
                    <a:lstStyle/>
                    <a:p>
                      <a:pP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Piezas por hora sin paros</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430</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414</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8A1F25"/>
                          </a:solidFill>
                          <a:latin typeface="Public Sans" pitchFamily="34" charset="0"/>
                          <a:ea typeface="Public Sans" pitchFamily="34" charset="-122"/>
                          <a:cs typeface="Public Sans" pitchFamily="34" charset="-120"/>
                        </a:rPr>
                        <a:t>444</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74960">
                <a:tc>
                  <a:txBody>
                    <a:bodyPr/>
                    <a:lstStyle/>
                    <a:p>
                      <a:pP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Mejor hora</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499</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490</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8A1F25"/>
                          </a:solidFill>
                          <a:latin typeface="Public Sans" pitchFamily="34" charset="0"/>
                          <a:ea typeface="Public Sans" pitchFamily="34" charset="-122"/>
                          <a:cs typeface="Public Sans" pitchFamily="34" charset="-120"/>
                        </a:rPr>
                        <a:t>517</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74960">
                <a:tc>
                  <a:txBody>
                    <a:bodyPr/>
                    <a:lstStyle/>
                    <a:p>
                      <a:pP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Horas de 480 piezas o más</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4.7</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1.3</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8A1F25"/>
                          </a:solidFill>
                          <a:latin typeface="Public Sans" pitchFamily="34" charset="0"/>
                          <a:ea typeface="Public Sans" pitchFamily="34" charset="-122"/>
                          <a:cs typeface="Public Sans" pitchFamily="34" charset="-120"/>
                        </a:rPr>
                        <a:t>7.3</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74960">
                <a:tc>
                  <a:txBody>
                    <a:bodyPr/>
                    <a:lstStyle/>
                    <a:p>
                      <a:pP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Paros de más de 5 minutos</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11.3</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12.7</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8A1F25"/>
                          </a:solidFill>
                          <a:latin typeface="Public Sans" pitchFamily="34" charset="0"/>
                          <a:ea typeface="Public Sans" pitchFamily="34" charset="-122"/>
                          <a:cs typeface="Public Sans" pitchFamily="34" charset="-120"/>
                        </a:rPr>
                        <a:t>6.3</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33524">
                <a:tc>
                  <a:txBody>
                    <a:bodyPr/>
                    <a:lstStyle/>
                    <a:p>
                      <a:pP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Tiempo perdido en esos paros</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3.1 h</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3.5 h</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8A1F25"/>
                          </a:solidFill>
                          <a:latin typeface="Public Sans" pitchFamily="34" charset="0"/>
                          <a:ea typeface="Public Sans" pitchFamily="34" charset="-122"/>
                          <a:cs typeface="Public Sans" pitchFamily="34" charset="-120"/>
                        </a:rPr>
                        <a:t>1.7 h</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33524">
                <a:tc>
                  <a:txBody>
                    <a:bodyPr/>
                    <a:lstStyle/>
                    <a:p>
                      <a:pP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Tiempo normal entre pallets</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86 s</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1E2124"/>
                          </a:solidFill>
                          <a:latin typeface="Public Sans" pitchFamily="34" charset="0"/>
                          <a:ea typeface="Public Sans" pitchFamily="34" charset="-122"/>
                          <a:cs typeface="Public Sans" pitchFamily="34" charset="-120"/>
                        </a:rPr>
                        <a:t>90 s</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037"/>
                        </a:lnSpc>
                        <a:buNone/>
                      </a:pPr>
                      <a:r>
                        <a:rPr lang="en-US" sz="1455" dirty="0">
                          <a:solidFill>
                            <a:srgbClr val="8A1F25"/>
                          </a:solidFill>
                          <a:latin typeface="Public Sans" pitchFamily="34" charset="0"/>
                          <a:ea typeface="Public Sans" pitchFamily="34" charset="-122"/>
                          <a:cs typeface="Public Sans" pitchFamily="34" charset="-120"/>
                        </a:rPr>
                        <a:t>86 s</a:t>
                      </a:r>
                      <a:endParaRPr lang="en-US" sz="1455" dirty="0">
                        <a:latin typeface="Public Sans" charset="0"/>
                        <a:ea typeface="Public Sans" charset="0"/>
                        <a:cs typeface="Public Sans" charset="0"/>
                      </a:endParaRPr>
                    </a:p>
                  </a:txBody>
                  <a:tcPr marL="152400" marR="1524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F77"/>
                </a:solidFill>
                <a:latin typeface="Public Sans" pitchFamily="34" charset="0"/>
                <a:ea typeface="Public Sans" pitchFamily="34" charset="-122"/>
                <a:cs typeface="Public Sans" pitchFamily="34" charset="-120"/>
              </a:rPr>
              <a:t>Días completos: 27-29 sep · 9-11 oct · 13, 18 y 19 oct (22 horas o más con producción) · Fuente: tablero de la Top Unloader, línea 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8E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124"/>
                </a:solidFill>
                <a:latin typeface="Oswald" pitchFamily="34" charset="0"/>
                <a:ea typeface="Oswald" pitchFamily="34" charset="-122"/>
                <a:cs typeface="Oswald" pitchFamily="34" charset="-120"/>
              </a:rPr>
              <a:t>Más horas buenas, menos horas flojas</a:t>
            </a:r>
            <a:endParaRPr lang="en-US" sz="3600" dirty="0"/>
          </a:p>
        </p:txBody>
      </p:sp>
      <p:sp>
        <p:nvSpPr>
          <p:cNvPr id="3" name="Text 1"/>
          <p:cNvSpPr/>
          <p:nvPr/>
        </p:nvSpPr>
        <p:spPr>
          <a:xfrm>
            <a:off x="812800" y="1791891"/>
            <a:ext cx="287782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8A1F25"/>
                </a:solidFill>
                <a:latin typeface="Oswald" pitchFamily="34" charset="0"/>
                <a:ea typeface="Oswald" pitchFamily="34" charset="-122"/>
                <a:cs typeface="Oswald" pitchFamily="34" charset="-120"/>
              </a:rPr>
              <a:t>31 %</a:t>
            </a:r>
            <a:endParaRPr lang="en-US" sz="6000" dirty="0"/>
          </a:p>
        </p:txBody>
      </p:sp>
      <p:sp>
        <p:nvSpPr>
          <p:cNvPr id="4" name="Text 2"/>
          <p:cNvSpPr/>
          <p:nvPr/>
        </p:nvSpPr>
        <p:spPr>
          <a:xfrm>
            <a:off x="812800" y="2731691"/>
            <a:ext cx="287782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de las horas ya sacan 480 piezas o más. A inicio de octubre era el 6 %.</a:t>
            </a:r>
            <a:endParaRPr lang="en-US" sz="1600" dirty="0"/>
          </a:p>
        </p:txBody>
      </p:sp>
      <p:sp>
        <p:nvSpPr>
          <p:cNvPr id="5" name="Text 3"/>
          <p:cNvSpPr/>
          <p:nvPr/>
        </p:nvSpPr>
        <p:spPr>
          <a:xfrm>
            <a:off x="812800" y="3686671"/>
            <a:ext cx="287782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Las horas de menos de 400 bajaron del 44 % al 11 %.</a:t>
            </a:r>
            <a:endParaRPr lang="en-US" sz="1600" dirty="0"/>
          </a:p>
        </p:txBody>
      </p:sp>
      <p:sp>
        <p:nvSpPr>
          <p:cNvPr id="6" name="Shape 4"/>
          <p:cNvSpPr/>
          <p:nvPr/>
        </p:nvSpPr>
        <p:spPr>
          <a:xfrm>
            <a:off x="3860800" y="1620441"/>
            <a:ext cx="7518400" cy="2806700"/>
          </a:xfrm>
          <a:prstGeom prst="roundRect">
            <a:avLst>
              <a:gd name="adj" fmla="val 2715"/>
            </a:avLst>
          </a:prstGeom>
          <a:solidFill>
            <a:srgbClr val="FFFFFF"/>
          </a:solidFill>
          <a:ln/>
        </p:spPr>
      </p:sp>
      <p:pic>
        <p:nvPicPr>
          <p:cNvPr id="7" name="Image 0" descr="Porcentaje de horas en cada rango de piezas por hora, por periodo">    </p:cNvPr>
          <p:cNvPicPr>
            <a:picLocks noChangeAspect="1"/>
          </p:cNvPicPr>
          <p:nvPr/>
        </p:nvPicPr>
        <p:blipFill>
          <a:blip r:embed="rId1"/>
          <a:srcRect l="-49" r="-49" t="0" b="0"/>
          <a:stretch/>
        </p:blipFill>
        <p:spPr>
          <a:xfrm>
            <a:off x="4000500" y="1722041"/>
            <a:ext cx="7239000" cy="2603500"/>
          </a:xfrm>
          <a:prstGeom prst="rect">
            <a:avLst/>
          </a:prstGeom>
        </p:spPr>
      </p:pic>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F77"/>
                </a:solidFill>
                <a:latin typeface="Public Sans" pitchFamily="34" charset="0"/>
                <a:ea typeface="Public Sans" pitchFamily="34" charset="-122"/>
                <a:cs typeface="Public Sans" pitchFamily="34" charset="-120"/>
              </a:rPr>
              <a:t>Horas de los días completos de cada periodo · Fuente: tablero de la Top Unloader, línea 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124"/>
                </a:solidFill>
                <a:latin typeface="Oswald" pitchFamily="34" charset="0"/>
                <a:ea typeface="Oswald" pitchFamily="34" charset="-122"/>
                <a:cs typeface="Oswald" pitchFamily="34" charset="-120"/>
              </a:rPr>
              <a:t>La mitad de tiempo perdido en paros</a:t>
            </a:r>
            <a:endParaRPr lang="en-US" sz="3600" dirty="0"/>
          </a:p>
        </p:txBody>
      </p:sp>
      <p:sp>
        <p:nvSpPr>
          <p:cNvPr id="3" name="Shape 1"/>
          <p:cNvSpPr/>
          <p:nvPr/>
        </p:nvSpPr>
        <p:spPr>
          <a:xfrm>
            <a:off x="812800" y="1518841"/>
            <a:ext cx="10566400" cy="3460750"/>
          </a:xfrm>
          <a:prstGeom prst="roundRect">
            <a:avLst>
              <a:gd name="adj" fmla="val 2202"/>
            </a:avLst>
          </a:prstGeom>
          <a:solidFill>
            <a:srgbClr val="FFFFFF"/>
          </a:solidFill>
          <a:ln/>
        </p:spPr>
      </p:sp>
      <p:pic>
        <p:nvPicPr>
          <p:cNvPr id="4" name="Image 0" descr="Horas al día con más de 5 minutos sin terminar un pallet, por día">    </p:cNvPr>
          <p:cNvPicPr>
            <a:picLocks noChangeAspect="1"/>
          </p:cNvPicPr>
          <p:nvPr/>
        </p:nvPicPr>
        <p:blipFill>
          <a:blip r:embed="rId1"/>
          <a:srcRect l="-6" r="-6" t="0" b="0"/>
          <a:stretch/>
        </p:blipFill>
        <p:spPr>
          <a:xfrm>
            <a:off x="1397000" y="1620441"/>
            <a:ext cx="9398000" cy="3257550"/>
          </a:xfrm>
          <a:prstGeom prst="rect">
            <a:avLst/>
          </a:prstGeom>
        </p:spPr>
      </p:pic>
      <p:sp>
        <p:nvSpPr>
          <p:cNvPr id="5" name="Text 2"/>
          <p:cNvSpPr/>
          <p:nvPr/>
        </p:nvSpPr>
        <p:spPr>
          <a:xfrm>
            <a:off x="812800" y="518279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Public Sans" pitchFamily="34" charset="0"/>
                <a:ea typeface="Public Sans" pitchFamily="34" charset="-122"/>
                <a:cs typeface="Public Sans" pitchFamily="34" charset="-120"/>
              </a:rPr>
              <a:t>Días completos: de </a:t>
            </a:r>
            <a:r>
              <a:rPr lang="en-US" sz="1600" b="1" dirty="0">
                <a:solidFill>
                  <a:srgbClr val="1E2124"/>
                </a:solidFill>
                <a:latin typeface="Public Sans" pitchFamily="34" charset="0"/>
                <a:ea typeface="Public Sans" pitchFamily="34" charset="-122"/>
                <a:cs typeface="Public Sans" pitchFamily="34" charset="-120"/>
              </a:rPr>
              <a:t>3.5 horas</a:t>
            </a:r>
            <a:r>
              <a:rPr lang="en-US" sz="1600" dirty="0">
                <a:solidFill>
                  <a:srgbClr val="4A4F57"/>
                </a:solidFill>
                <a:latin typeface="Public Sans" pitchFamily="34" charset="0"/>
                <a:ea typeface="Public Sans" pitchFamily="34" charset="-122"/>
                <a:cs typeface="Public Sans" pitchFamily="34" charset="-120"/>
              </a:rPr>
              <a:t> perdidas por día a inicio de octubre a </a:t>
            </a:r>
            <a:r>
              <a:rPr lang="en-US" sz="1600" b="1" dirty="0">
                <a:solidFill>
                  <a:srgbClr val="8A1F25"/>
                </a:solidFill>
                <a:latin typeface="Public Sans" pitchFamily="34" charset="0"/>
                <a:ea typeface="Public Sans" pitchFamily="34" charset="-122"/>
                <a:cs typeface="Public Sans" pitchFamily="34" charset="-120"/>
              </a:rPr>
              <a:t>1.7 horas</a:t>
            </a:r>
            <a:r>
              <a:rPr lang="en-US" sz="1600" dirty="0">
                <a:solidFill>
                  <a:srgbClr val="4A4F57"/>
                </a:solidFill>
                <a:latin typeface="Public Sans" pitchFamily="34" charset="0"/>
                <a:ea typeface="Public Sans" pitchFamily="34" charset="-122"/>
                <a:cs typeface="Public Sans" pitchFamily="34" charset="-120"/>
              </a:rPr>
              <a:t> con las 2.1. El 13 y el 19 de octubre, menos de 1 hora.</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F77"/>
                </a:solidFill>
                <a:latin typeface="Public Sans" pitchFamily="34" charset="0"/>
                <a:ea typeface="Public Sans" pitchFamily="34" charset="-122"/>
                <a:cs typeface="Public Sans" pitchFamily="34" charset="-120"/>
              </a:rPr>
              <a:t>Paro: más de 5 minutos entre un pallet y el siguiente, por cualquier causa · Fuente: tablero de la Top Unloader, línea 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8A1F2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F0"/>
                </a:solidFill>
                <a:latin typeface="Oswald" pitchFamily="34" charset="0"/>
                <a:ea typeface="Oswald" pitchFamily="34" charset="-122"/>
                <a:cs typeface="Oswald" pitchFamily="34" charset="-120"/>
              </a:rPr>
              <a:t>Se ganó tiempo sin forzar la máquina</a:t>
            </a:r>
            <a:endParaRPr lang="en-US" sz="3600" dirty="0"/>
          </a:p>
        </p:txBody>
      </p:sp>
      <p:sp>
        <p:nvSpPr>
          <p:cNvPr id="3" name="Text 1"/>
          <p:cNvSpPr/>
          <p:nvPr/>
        </p:nvSpPr>
        <p:spPr>
          <a:xfrm>
            <a:off x="812800" y="1569641"/>
            <a:ext cx="98107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F0"/>
                </a:solidFill>
                <a:latin typeface="Public Sans" pitchFamily="34" charset="0"/>
                <a:ea typeface="Public Sans" pitchFamily="34" charset="-122"/>
                <a:cs typeface="Public Sans" pitchFamily="34" charset="-120"/>
              </a:rPr>
              <a:t>El tiempo normal entre pallets sigue en unos 86 segundos, en el ideal de 88.6. La ganancia vino de perder menos tiempo.</a:t>
            </a:r>
            <a:endParaRPr lang="en-US" sz="2200" dirty="0"/>
          </a:p>
        </p:txBody>
      </p:sp>
      <p:sp>
        <p:nvSpPr>
          <p:cNvPr id="4" name="Shape 2"/>
          <p:cNvSpPr/>
          <p:nvPr/>
        </p:nvSpPr>
        <p:spPr>
          <a:xfrm>
            <a:off x="812800" y="2549922"/>
            <a:ext cx="10566400" cy="3067050"/>
          </a:xfrm>
          <a:prstGeom prst="roundRect">
            <a:avLst>
              <a:gd name="adj" fmla="val 2484"/>
            </a:avLst>
          </a:prstGeom>
          <a:solidFill>
            <a:srgbClr val="FBF9F6"/>
          </a:solidFill>
          <a:ln/>
        </p:spPr>
      </p:sp>
      <p:pic>
        <p:nvPicPr>
          <p:cNvPr id="5" name="Image 0" descr="Mediana del tiempo entre pallets por día, con la línea del ideal de 88.6 segundos">    </p:cNvPr>
          <p:cNvPicPr>
            <a:picLocks noChangeAspect="1"/>
          </p:cNvPicPr>
          <p:nvPr/>
        </p:nvPicPr>
        <p:blipFill>
          <a:blip r:embed="rId1"/>
          <a:srcRect l="0" r="0" t="-37" b="-37"/>
          <a:stretch/>
        </p:blipFill>
        <p:spPr>
          <a:xfrm>
            <a:off x="1968500" y="2651522"/>
            <a:ext cx="8255000" cy="2863850"/>
          </a:xfrm>
          <a:prstGeom prst="rect">
            <a:avLst/>
          </a:prstGeom>
        </p:spPr>
      </p:pic>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D9DA"/>
                </a:solidFill>
                <a:latin typeface="Public Sans" pitchFamily="34" charset="0"/>
                <a:ea typeface="Public Sans" pitchFamily="34" charset="-122"/>
                <a:cs typeface="Public Sans" pitchFamily="34" charset="-120"/>
              </a:rPr>
              <a:t>Cada punto: el tiempo normal del día, sin contar los paros · Fuente: tablero de la Top Unloader, línea 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5102"/>
          </a:xfrm>
          <a:prstGeom prst="rect">
            <a:avLst/>
          </a:prstGeom>
          <a:noFill/>
          <a:ln/>
        </p:spPr>
        <p:txBody>
          <a:bodyPr wrap="square" lIns="0" tIns="0" rIns="0" bIns="0" rtlCol="0" anchor="t">
            <a:normAutofit/>
          </a:bodyPr>
          <a:lstStyle/>
          <a:p>
            <a:pPr algn="l" indent="0" marL="0">
              <a:lnSpc>
                <a:spcPts val="3725"/>
              </a:lnSpc>
              <a:buNone/>
            </a:pPr>
            <a:r>
              <a:rPr lang="en-US" sz="3386" b="1" i="0" dirty="0">
                <a:solidFill>
                  <a:srgbClr val="1E2124"/>
                </a:solidFill>
                <a:latin typeface="Oswald" pitchFamily="34" charset="0"/>
                <a:ea typeface="Oswald" pitchFamily="34" charset="-122"/>
                <a:cs typeface="Oswald" pitchFamily="34" charset="-120"/>
              </a:rPr>
              <a:t>Línea 1: agosto contra octubre</a:t>
            </a:r>
            <a:endParaRPr lang="en-US" sz="3386" dirty="0"/>
          </a:p>
        </p:txBody>
      </p:sp>
      <p:sp>
        <p:nvSpPr>
          <p:cNvPr id="3" name="Shape 1"/>
          <p:cNvSpPr/>
          <p:nvPr/>
        </p:nvSpPr>
        <p:spPr>
          <a:xfrm>
            <a:off x="812800" y="1536502"/>
            <a:ext cx="3386634" cy="1380728"/>
          </a:xfrm>
          <a:prstGeom prst="roundRect">
            <a:avLst>
              <a:gd name="adj" fmla="val 5519"/>
            </a:avLst>
          </a:prstGeom>
          <a:solidFill>
            <a:srgbClr val="FFFFFF"/>
          </a:solidFill>
          <a:ln/>
        </p:spPr>
      </p:sp>
      <p:sp>
        <p:nvSpPr>
          <p:cNvPr id="4" name="Shape 2"/>
          <p:cNvSpPr/>
          <p:nvPr/>
        </p:nvSpPr>
        <p:spPr>
          <a:xfrm>
            <a:off x="812800" y="1536502"/>
            <a:ext cx="3386634" cy="1380728"/>
          </a:xfrm>
          <a:custGeom>
            <a:avLst/>
            <a:gdLst/>
            <a:ahLst/>
            <a:cxnLst/>
            <a:rect l="l" t="t" r="r" b="b"/>
            <a:pathLst>
              <a:path w="3386634" h="1380728">
                <a:moveTo>
                  <a:pt x="76200" y="1380728"/>
                </a:moveTo>
                <a:lnTo>
                  <a:pt x="76200" y="1380728"/>
                </a:lnTo>
                <a:arcTo hR="76200" wR="76200" stAng="5400000" swAng="5400000"/>
                <a:lnTo>
                  <a:pt x="0" y="76200"/>
                </a:lnTo>
                <a:arcTo hR="76200" wR="76200" stAng="10800000" swAng="5400000"/>
                <a:lnTo>
                  <a:pt x="76200" y="0"/>
                </a:lnTo>
                <a:arcTo hR="76200" wR="25400" stAng="16200000" swAng="-5400000"/>
                <a:lnTo>
                  <a:pt x="50800" y="1304528"/>
                </a:lnTo>
                <a:arcTo hR="76200" wR="25400" stAng="10800000" swAng="-5400000"/>
                <a:close/>
              </a:path>
            </a:pathLst>
          </a:custGeom>
          <a:solidFill>
            <a:srgbClr val="8A1F25"/>
          </a:solidFill>
          <a:ln/>
        </p:spPr>
      </p:sp>
      <p:sp>
        <p:nvSpPr>
          <p:cNvPr id="5" name="Text 3"/>
          <p:cNvSpPr/>
          <p:nvPr/>
        </p:nvSpPr>
        <p:spPr>
          <a:xfrm>
            <a:off x="1092200" y="1714302"/>
            <a:ext cx="2964993" cy="482501"/>
          </a:xfrm>
          <a:prstGeom prst="rect">
            <a:avLst/>
          </a:prstGeom>
          <a:noFill/>
          <a:ln/>
        </p:spPr>
        <p:txBody>
          <a:bodyPr wrap="square" lIns="0" tIns="0" rIns="0" bIns="0" rtlCol="0" anchor="t">
            <a:normAutofit/>
          </a:bodyPr>
          <a:lstStyle/>
          <a:p>
            <a:pPr algn="l" indent="0" marL="0">
              <a:lnSpc>
                <a:spcPts val="3614"/>
              </a:lnSpc>
              <a:buNone/>
            </a:pPr>
            <a:r>
              <a:rPr lang="en-US" sz="3285" b="1" dirty="0">
                <a:solidFill>
                  <a:srgbClr val="8A1F25"/>
                </a:solidFill>
                <a:latin typeface="Oswald" pitchFamily="34" charset="0"/>
                <a:ea typeface="Oswald" pitchFamily="34" charset="-122"/>
                <a:cs typeface="Oswald" pitchFamily="34" charset="-120"/>
              </a:rPr>
              <a:t>+6.4 %</a:t>
            </a:r>
            <a:endParaRPr lang="en-US" sz="3285" dirty="0"/>
          </a:p>
        </p:txBody>
      </p:sp>
      <p:sp>
        <p:nvSpPr>
          <p:cNvPr id="6" name="Text 4"/>
          <p:cNvSpPr/>
          <p:nvPr/>
        </p:nvSpPr>
        <p:spPr>
          <a:xfrm>
            <a:off x="1092200" y="2222202"/>
            <a:ext cx="2964993" cy="542627"/>
          </a:xfrm>
          <a:prstGeom prst="rect">
            <a:avLst/>
          </a:prstGeom>
          <a:noFill/>
          <a:ln/>
        </p:spPr>
        <p:txBody>
          <a:bodyPr wrap="square" lIns="0" tIns="0" rIns="0" bIns="0" rtlCol="0" anchor="t">
            <a:normAutofit/>
          </a:bodyPr>
          <a:lstStyle/>
          <a:p>
            <a:pPr algn="l" indent="0" marL="0">
              <a:lnSpc>
                <a:spcPts val="2037"/>
              </a:lnSpc>
              <a:buNone/>
            </a:pPr>
            <a:r>
              <a:rPr lang="en-US" sz="1455" dirty="0">
                <a:solidFill>
                  <a:srgbClr val="4A4F57"/>
                </a:solidFill>
                <a:latin typeface="Public Sans" pitchFamily="34" charset="0"/>
                <a:ea typeface="Public Sans" pitchFamily="34" charset="-122"/>
                <a:cs typeface="Public Sans" pitchFamily="34" charset="-120"/>
              </a:rPr>
              <a:t>piezas por hora sin paros (738 a 786)</a:t>
            </a:r>
            <a:endParaRPr lang="en-US" sz="1455" dirty="0"/>
          </a:p>
        </p:txBody>
      </p:sp>
      <p:sp>
        <p:nvSpPr>
          <p:cNvPr id="7" name="Shape 5"/>
          <p:cNvSpPr/>
          <p:nvPr/>
        </p:nvSpPr>
        <p:spPr>
          <a:xfrm>
            <a:off x="4402634" y="1536502"/>
            <a:ext cx="3386634" cy="1380728"/>
          </a:xfrm>
          <a:prstGeom prst="roundRect">
            <a:avLst>
              <a:gd name="adj" fmla="val 5519"/>
            </a:avLst>
          </a:prstGeom>
          <a:solidFill>
            <a:srgbClr val="FFFFFF"/>
          </a:solidFill>
          <a:ln/>
        </p:spPr>
      </p:sp>
      <p:sp>
        <p:nvSpPr>
          <p:cNvPr id="8" name="Shape 6"/>
          <p:cNvSpPr/>
          <p:nvPr/>
        </p:nvSpPr>
        <p:spPr>
          <a:xfrm>
            <a:off x="4402634" y="1536502"/>
            <a:ext cx="3386634" cy="1380728"/>
          </a:xfrm>
          <a:custGeom>
            <a:avLst/>
            <a:gdLst/>
            <a:ahLst/>
            <a:cxnLst/>
            <a:rect l="l" t="t" r="r" b="b"/>
            <a:pathLst>
              <a:path w="3386634" h="1380728">
                <a:moveTo>
                  <a:pt x="76200" y="1380728"/>
                </a:moveTo>
                <a:lnTo>
                  <a:pt x="76200" y="1380728"/>
                </a:lnTo>
                <a:arcTo hR="76200" wR="76200" stAng="5400000" swAng="5400000"/>
                <a:lnTo>
                  <a:pt x="0" y="76200"/>
                </a:lnTo>
                <a:arcTo hR="76200" wR="76200" stAng="10800000" swAng="5400000"/>
                <a:lnTo>
                  <a:pt x="76200" y="0"/>
                </a:lnTo>
                <a:arcTo hR="76200" wR="25400" stAng="16200000" swAng="-5400000"/>
                <a:lnTo>
                  <a:pt x="50800" y="1304528"/>
                </a:lnTo>
                <a:arcTo hR="76200" wR="25400" stAng="10800000" swAng="-5400000"/>
                <a:close/>
              </a:path>
            </a:pathLst>
          </a:custGeom>
          <a:solidFill>
            <a:srgbClr val="8A1F25"/>
          </a:solidFill>
          <a:ln/>
        </p:spPr>
      </p:sp>
      <p:sp>
        <p:nvSpPr>
          <p:cNvPr id="9" name="Text 7"/>
          <p:cNvSpPr/>
          <p:nvPr/>
        </p:nvSpPr>
        <p:spPr>
          <a:xfrm>
            <a:off x="4682034" y="1714302"/>
            <a:ext cx="2964993" cy="482501"/>
          </a:xfrm>
          <a:prstGeom prst="rect">
            <a:avLst/>
          </a:prstGeom>
          <a:noFill/>
          <a:ln/>
        </p:spPr>
        <p:txBody>
          <a:bodyPr wrap="square" lIns="0" tIns="0" rIns="0" bIns="0" rtlCol="0" anchor="t">
            <a:normAutofit/>
          </a:bodyPr>
          <a:lstStyle/>
          <a:p>
            <a:pPr algn="l" indent="0" marL="0">
              <a:lnSpc>
                <a:spcPts val="3614"/>
              </a:lnSpc>
              <a:buNone/>
            </a:pPr>
            <a:r>
              <a:rPr lang="en-US" sz="3285" b="1" dirty="0">
                <a:solidFill>
                  <a:srgbClr val="8A1F25"/>
                </a:solidFill>
                <a:latin typeface="Oswald" pitchFamily="34" charset="0"/>
                <a:ea typeface="Oswald" pitchFamily="34" charset="-122"/>
                <a:cs typeface="Oswald" pitchFamily="34" charset="-120"/>
              </a:rPr>
              <a:t>1,003</a:t>
            </a:r>
            <a:endParaRPr lang="en-US" sz="3285" dirty="0"/>
          </a:p>
        </p:txBody>
      </p:sp>
      <p:sp>
        <p:nvSpPr>
          <p:cNvPr id="10" name="Text 8"/>
          <p:cNvSpPr/>
          <p:nvPr/>
        </p:nvSpPr>
        <p:spPr>
          <a:xfrm>
            <a:off x="4682034" y="2222202"/>
            <a:ext cx="2964993" cy="542627"/>
          </a:xfrm>
          <a:prstGeom prst="rect">
            <a:avLst/>
          </a:prstGeom>
          <a:noFill/>
          <a:ln/>
        </p:spPr>
        <p:txBody>
          <a:bodyPr wrap="square" lIns="0" tIns="0" rIns="0" bIns="0" rtlCol="0" anchor="t">
            <a:normAutofit/>
          </a:bodyPr>
          <a:lstStyle/>
          <a:p>
            <a:pPr algn="l" indent="0" marL="0">
              <a:lnSpc>
                <a:spcPts val="2037"/>
              </a:lnSpc>
              <a:buNone/>
            </a:pPr>
            <a:r>
              <a:rPr lang="en-US" sz="1455" dirty="0">
                <a:solidFill>
                  <a:srgbClr val="4A4F57"/>
                </a:solidFill>
                <a:latin typeface="Public Sans" pitchFamily="34" charset="0"/>
                <a:ea typeface="Public Sans" pitchFamily="34" charset="-122"/>
                <a:cs typeface="Public Sans" pitchFamily="34" charset="-120"/>
              </a:rPr>
              <a:t>piezas en la mejor hora (antes 869)</a:t>
            </a:r>
            <a:endParaRPr lang="en-US" sz="1455" dirty="0"/>
          </a:p>
        </p:txBody>
      </p:sp>
      <p:sp>
        <p:nvSpPr>
          <p:cNvPr id="11" name="Shape 9"/>
          <p:cNvSpPr/>
          <p:nvPr/>
        </p:nvSpPr>
        <p:spPr>
          <a:xfrm>
            <a:off x="7992467" y="1536502"/>
            <a:ext cx="3386634" cy="1380728"/>
          </a:xfrm>
          <a:prstGeom prst="roundRect">
            <a:avLst>
              <a:gd name="adj" fmla="val 5519"/>
            </a:avLst>
          </a:prstGeom>
          <a:solidFill>
            <a:srgbClr val="FFFFFF"/>
          </a:solidFill>
          <a:ln/>
        </p:spPr>
      </p:sp>
      <p:sp>
        <p:nvSpPr>
          <p:cNvPr id="12" name="Shape 10"/>
          <p:cNvSpPr/>
          <p:nvPr/>
        </p:nvSpPr>
        <p:spPr>
          <a:xfrm>
            <a:off x="7992467" y="1536502"/>
            <a:ext cx="3386634" cy="1380728"/>
          </a:xfrm>
          <a:custGeom>
            <a:avLst/>
            <a:gdLst/>
            <a:ahLst/>
            <a:cxnLst/>
            <a:rect l="l" t="t" r="r" b="b"/>
            <a:pathLst>
              <a:path w="3386634" h="1380728">
                <a:moveTo>
                  <a:pt x="76200" y="1380728"/>
                </a:moveTo>
                <a:lnTo>
                  <a:pt x="76200" y="1380728"/>
                </a:lnTo>
                <a:arcTo hR="76200" wR="76200" stAng="5400000" swAng="5400000"/>
                <a:lnTo>
                  <a:pt x="0" y="76200"/>
                </a:lnTo>
                <a:arcTo hR="76200" wR="76200" stAng="10800000" swAng="5400000"/>
                <a:lnTo>
                  <a:pt x="76200" y="0"/>
                </a:lnTo>
                <a:arcTo hR="76200" wR="25400" stAng="16200000" swAng="-5400000"/>
                <a:lnTo>
                  <a:pt x="50800" y="1304528"/>
                </a:lnTo>
                <a:arcTo hR="76200" wR="25400" stAng="10800000" swAng="-5400000"/>
                <a:close/>
              </a:path>
            </a:pathLst>
          </a:custGeom>
          <a:solidFill>
            <a:srgbClr val="8A1F25"/>
          </a:solidFill>
          <a:ln/>
        </p:spPr>
      </p:sp>
      <p:sp>
        <p:nvSpPr>
          <p:cNvPr id="13" name="Text 11"/>
          <p:cNvSpPr/>
          <p:nvPr/>
        </p:nvSpPr>
        <p:spPr>
          <a:xfrm>
            <a:off x="8271867" y="1714302"/>
            <a:ext cx="2964993" cy="482501"/>
          </a:xfrm>
          <a:prstGeom prst="rect">
            <a:avLst/>
          </a:prstGeom>
          <a:noFill/>
          <a:ln/>
        </p:spPr>
        <p:txBody>
          <a:bodyPr wrap="square" lIns="0" tIns="0" rIns="0" bIns="0" rtlCol="0" anchor="t">
            <a:normAutofit/>
          </a:bodyPr>
          <a:lstStyle/>
          <a:p>
            <a:pPr algn="l" indent="0" marL="0">
              <a:lnSpc>
                <a:spcPts val="3614"/>
              </a:lnSpc>
              <a:buNone/>
            </a:pPr>
            <a:r>
              <a:rPr lang="en-US" sz="3285" b="1" dirty="0">
                <a:solidFill>
                  <a:srgbClr val="8A1F25"/>
                </a:solidFill>
                <a:latin typeface="Oswald" pitchFamily="34" charset="0"/>
                <a:ea typeface="Oswald" pitchFamily="34" charset="-122"/>
                <a:cs typeface="Oswald" pitchFamily="34" charset="-120"/>
              </a:rPr>
              <a:t>+4.6 %</a:t>
            </a:r>
            <a:endParaRPr lang="en-US" sz="3285" dirty="0"/>
          </a:p>
        </p:txBody>
      </p:sp>
      <p:sp>
        <p:nvSpPr>
          <p:cNvPr id="14" name="Text 12"/>
          <p:cNvSpPr/>
          <p:nvPr/>
        </p:nvSpPr>
        <p:spPr>
          <a:xfrm>
            <a:off x="8271867" y="2222202"/>
            <a:ext cx="3107234" cy="54262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7"/>
                </a:solidFill>
                <a:latin typeface="Public Sans" pitchFamily="34" charset="0"/>
                <a:ea typeface="Public Sans" pitchFamily="34" charset="-122"/>
                <a:cs typeface="Public Sans" pitchFamily="34" charset="-120"/>
              </a:rPr>
              <a:t>piezas en el día (16,678 a 17,449)</a:t>
            </a:r>
            <a:endParaRPr lang="en-US" sz="1500" dirty="0"/>
          </a:p>
        </p:txBody>
      </p:sp>
      <p:sp>
        <p:nvSpPr>
          <p:cNvPr id="15" name="Shape 13"/>
          <p:cNvSpPr/>
          <p:nvPr/>
        </p:nvSpPr>
        <p:spPr>
          <a:xfrm>
            <a:off x="812800" y="3171230"/>
            <a:ext cx="10566400" cy="2670770"/>
          </a:xfrm>
          <a:prstGeom prst="roundRect">
            <a:avLst>
              <a:gd name="adj" fmla="val 2853"/>
            </a:avLst>
          </a:prstGeom>
          <a:solidFill>
            <a:srgbClr val="FFFFFF"/>
          </a:solidFill>
          <a:ln/>
        </p:spPr>
      </p:sp>
      <p:pic>
        <p:nvPicPr>
          <p:cNvPr id="16" name="Image 0" descr="Línea 1, 12 de agosto contra 1 de octubre: promedio, ritmo sin paros, mejor hora y promedio de las 8 mejores horas">    </p:cNvPr>
          <p:cNvPicPr>
            <a:picLocks noChangeAspect="1"/>
          </p:cNvPicPr>
          <p:nvPr/>
        </p:nvPicPr>
        <p:blipFill>
          <a:blip r:embed="rId1"/>
          <a:srcRect l="0" r="0" t="0" b="0"/>
          <a:stretch/>
        </p:blipFill>
        <p:spPr>
          <a:xfrm>
            <a:off x="2286000" y="3272830"/>
            <a:ext cx="7620000" cy="2641600"/>
          </a:xfrm>
          <a:prstGeom prst="rect">
            <a:avLst/>
          </a:prstGeom>
        </p:spPr>
      </p:pic>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F77"/>
                </a:solidFill>
                <a:latin typeface="Public Sans" pitchFamily="34" charset="0"/>
                <a:ea typeface="Public Sans" pitchFamily="34" charset="-122"/>
                <a:cs typeface="Public Sans" pitchFamily="34" charset="-120"/>
              </a:rPr>
              <a:t>12 de agosto contra 1 de octubre de 2026 · Salida de las Top Unloader #01 y #02 · Fuente: reportes de producción por hora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8E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124"/>
                </a:solidFill>
                <a:latin typeface="Oswald" pitchFamily="34" charset="0"/>
                <a:ea typeface="Oswald" pitchFamily="34" charset="-122"/>
                <a:cs typeface="Oswald" pitchFamily="34" charset="-120"/>
              </a:rPr>
              <a:t>Lo que se puso en las máquinas</a:t>
            </a:r>
            <a:endParaRPr lang="en-US" sz="3600" dirty="0"/>
          </a:p>
        </p:txBody>
      </p:sp>
      <p:sp>
        <p:nvSpPr>
          <p:cNvPr id="3" name="Shape 1"/>
          <p:cNvSpPr/>
          <p:nvPr/>
        </p:nvSpPr>
        <p:spPr>
          <a:xfrm>
            <a:off x="812800" y="1620441"/>
            <a:ext cx="3386634" cy="1424781"/>
          </a:xfrm>
          <a:prstGeom prst="roundRect">
            <a:avLst>
              <a:gd name="adj" fmla="val 5348"/>
            </a:avLst>
          </a:prstGeom>
          <a:solidFill>
            <a:srgbClr val="FFFFFF"/>
          </a:solidFill>
          <a:ln/>
        </p:spPr>
      </p:sp>
      <p:sp>
        <p:nvSpPr>
          <p:cNvPr id="4" name="Shape 2"/>
          <p:cNvSpPr/>
          <p:nvPr/>
        </p:nvSpPr>
        <p:spPr>
          <a:xfrm>
            <a:off x="812800" y="1620441"/>
            <a:ext cx="3386634" cy="1424781"/>
          </a:xfrm>
          <a:custGeom>
            <a:avLst/>
            <a:gdLst/>
            <a:ahLst/>
            <a:cxnLst/>
            <a:rect l="l" t="t" r="r" b="b"/>
            <a:pathLst>
              <a:path w="3386634" h="1424781">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8A1F25"/>
          </a:solidFill>
          <a:ln/>
        </p:spPr>
      </p:sp>
      <p:sp>
        <p:nvSpPr>
          <p:cNvPr id="5" name="Text 3"/>
          <p:cNvSpPr/>
          <p:nvPr/>
        </p:nvSpPr>
        <p:spPr>
          <a:xfrm>
            <a:off x="1016000" y="1861741"/>
            <a:ext cx="3069641"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124"/>
                </a:solidFill>
                <a:latin typeface="Public Sans" pitchFamily="34" charset="0"/>
                <a:ea typeface="Public Sans" pitchFamily="34" charset="-122"/>
                <a:cs typeface="Public Sans" pitchFamily="34" charset="-120"/>
              </a:rPr>
              <a:t>Tablero de producción</a:t>
            </a:r>
            <a:endParaRPr lang="en-US" sz="1600" dirty="0"/>
          </a:p>
        </p:txBody>
      </p:sp>
      <p:sp>
        <p:nvSpPr>
          <p:cNvPr id="6" name="Text 4"/>
          <p:cNvSpPr/>
          <p:nvPr/>
        </p:nvSpPr>
        <p:spPr>
          <a:xfrm>
            <a:off x="1016000" y="2202061"/>
            <a:ext cx="30696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Public Sans" pitchFamily="34" charset="0"/>
                <a:ea typeface="Public Sans" pitchFamily="34" charset="-122"/>
                <a:cs typeface="Public Sans" pitchFamily="34" charset="-120"/>
              </a:rPr>
              <a:t>Ritmo, paros y alarmas a la vista en la máquina. De ahí salen estos datos.</a:t>
            </a:r>
            <a:endParaRPr lang="en-US" sz="1200" dirty="0"/>
          </a:p>
        </p:txBody>
      </p:sp>
      <p:sp>
        <p:nvSpPr>
          <p:cNvPr id="7" name="Shape 5"/>
          <p:cNvSpPr/>
          <p:nvPr/>
        </p:nvSpPr>
        <p:spPr>
          <a:xfrm>
            <a:off x="4402634" y="1620441"/>
            <a:ext cx="3386634" cy="1424781"/>
          </a:xfrm>
          <a:prstGeom prst="roundRect">
            <a:avLst>
              <a:gd name="adj" fmla="val 5348"/>
            </a:avLst>
          </a:prstGeom>
          <a:solidFill>
            <a:srgbClr val="FFFFFF"/>
          </a:solidFill>
          <a:ln/>
        </p:spPr>
      </p:sp>
      <p:sp>
        <p:nvSpPr>
          <p:cNvPr id="8" name="Shape 6"/>
          <p:cNvSpPr/>
          <p:nvPr/>
        </p:nvSpPr>
        <p:spPr>
          <a:xfrm>
            <a:off x="4402634" y="1620441"/>
            <a:ext cx="3386634" cy="1424781"/>
          </a:xfrm>
          <a:custGeom>
            <a:avLst/>
            <a:gdLst/>
            <a:ahLst/>
            <a:cxnLst/>
            <a:rect l="l" t="t" r="r" b="b"/>
            <a:pathLst>
              <a:path w="3386634" h="1424781">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8A1F25"/>
          </a:solidFill>
          <a:ln/>
        </p:spPr>
      </p:sp>
      <p:sp>
        <p:nvSpPr>
          <p:cNvPr id="9" name="Text 7"/>
          <p:cNvSpPr/>
          <p:nvPr/>
        </p:nvSpPr>
        <p:spPr>
          <a:xfrm>
            <a:off x="4605834" y="1861741"/>
            <a:ext cx="3069641"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124"/>
                </a:solidFill>
                <a:latin typeface="Public Sans" pitchFamily="34" charset="0"/>
                <a:ea typeface="Public Sans" pitchFamily="34" charset="-122"/>
                <a:cs typeface="Public Sans" pitchFamily="34" charset="-120"/>
              </a:rPr>
              <a:t>Versiones de velocidad 2.1</a:t>
            </a:r>
            <a:endParaRPr lang="en-US" sz="1600" dirty="0"/>
          </a:p>
        </p:txBody>
      </p:sp>
      <p:sp>
        <p:nvSpPr>
          <p:cNvPr id="10" name="Text 8"/>
          <p:cNvSpPr/>
          <p:nvPr/>
        </p:nvSpPr>
        <p:spPr>
          <a:xfrm>
            <a:off x="4605834" y="2202061"/>
            <a:ext cx="30696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Public Sans" pitchFamily="34" charset="0"/>
                <a:ea typeface="Public Sans" pitchFamily="34" charset="-122"/>
                <a:cs typeface="Public Sans" pitchFamily="34" charset="-120"/>
              </a:rPr>
              <a:t>Menos esperas entre pasos y comunicación más rápida con el robot.</a:t>
            </a:r>
            <a:endParaRPr lang="en-US" sz="1200" dirty="0"/>
          </a:p>
        </p:txBody>
      </p:sp>
      <p:sp>
        <p:nvSpPr>
          <p:cNvPr id="11" name="Shape 9"/>
          <p:cNvSpPr/>
          <p:nvPr/>
        </p:nvSpPr>
        <p:spPr>
          <a:xfrm>
            <a:off x="7992467" y="1620441"/>
            <a:ext cx="3386733" cy="1424781"/>
          </a:xfrm>
          <a:prstGeom prst="roundRect">
            <a:avLst>
              <a:gd name="adj" fmla="val 5348"/>
            </a:avLst>
          </a:prstGeom>
          <a:solidFill>
            <a:srgbClr val="FFFFFF"/>
          </a:solidFill>
          <a:ln/>
        </p:spPr>
      </p:sp>
      <p:sp>
        <p:nvSpPr>
          <p:cNvPr id="12" name="Shape 10"/>
          <p:cNvSpPr/>
          <p:nvPr/>
        </p:nvSpPr>
        <p:spPr>
          <a:xfrm>
            <a:off x="7992467" y="1620441"/>
            <a:ext cx="3386733" cy="1424781"/>
          </a:xfrm>
          <a:custGeom>
            <a:avLst/>
            <a:gdLst/>
            <a:ahLst/>
            <a:cxnLst/>
            <a:rect l="l" t="t" r="r" b="b"/>
            <a:pathLst>
              <a:path w="3386733" h="1424781">
                <a:moveTo>
                  <a:pt x="0" y="76200"/>
                </a:moveTo>
                <a:lnTo>
                  <a:pt x="0" y="76200"/>
                </a:lnTo>
                <a:arcTo hR="76200" wR="76200" stAng="10800000" swAng="5400000"/>
                <a:lnTo>
                  <a:pt x="3310533" y="0"/>
                </a:lnTo>
                <a:arcTo hR="76200" wR="76200" stAng="16200000" swAng="5400000"/>
                <a:lnTo>
                  <a:pt x="3386733" y="76200"/>
                </a:lnTo>
                <a:arcTo hR="38100" wR="76200" stAng="0" swAng="-5400000"/>
                <a:lnTo>
                  <a:pt x="76200" y="38100"/>
                </a:lnTo>
                <a:arcTo hR="38100" wR="76200" stAng="16200000" swAng="-5400000"/>
                <a:close/>
              </a:path>
            </a:pathLst>
          </a:custGeom>
          <a:solidFill>
            <a:srgbClr val="8A1F25"/>
          </a:solidFill>
          <a:ln/>
        </p:spPr>
      </p:sp>
      <p:sp>
        <p:nvSpPr>
          <p:cNvPr id="13" name="Text 11"/>
          <p:cNvSpPr/>
          <p:nvPr/>
        </p:nvSpPr>
        <p:spPr>
          <a:xfrm>
            <a:off x="8195667" y="1861741"/>
            <a:ext cx="3069743"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124"/>
                </a:solidFill>
                <a:latin typeface="Public Sans" pitchFamily="34" charset="0"/>
                <a:ea typeface="Public Sans" pitchFamily="34" charset="-122"/>
                <a:cs typeface="Public Sans" pitchFamily="34" charset="-120"/>
              </a:rPr>
              <a:t>Reinicio rápido</a:t>
            </a:r>
            <a:endParaRPr lang="en-US" sz="1600" dirty="0"/>
          </a:p>
        </p:txBody>
      </p:sp>
      <p:sp>
        <p:nvSpPr>
          <p:cNvPr id="14" name="Text 12"/>
          <p:cNvSpPr/>
          <p:nvPr/>
        </p:nvSpPr>
        <p:spPr>
          <a:xfrm>
            <a:off x="8195667" y="2202061"/>
            <a:ext cx="306974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Public Sans" pitchFamily="34" charset="0"/>
                <a:ea typeface="Public Sans" pitchFamily="34" charset="-122"/>
                <a:cs typeface="Public Sans" pitchFamily="34" charset="-120"/>
              </a:rPr>
              <a:t>Después de un paro, la máquina sigue con el pallet que tenía, sin quitar piezas a mano.</a:t>
            </a:r>
            <a:endParaRPr lang="en-US" sz="1200" dirty="0"/>
          </a:p>
        </p:txBody>
      </p:sp>
      <p:sp>
        <p:nvSpPr>
          <p:cNvPr id="15" name="Shape 13"/>
          <p:cNvSpPr/>
          <p:nvPr/>
        </p:nvSpPr>
        <p:spPr>
          <a:xfrm>
            <a:off x="812800" y="3248422"/>
            <a:ext cx="3386634" cy="1475581"/>
          </a:xfrm>
          <a:prstGeom prst="roundRect">
            <a:avLst>
              <a:gd name="adj" fmla="val 5164"/>
            </a:avLst>
          </a:prstGeom>
          <a:solidFill>
            <a:srgbClr val="FFFFFF"/>
          </a:solidFill>
          <a:ln/>
        </p:spPr>
      </p:sp>
      <p:sp>
        <p:nvSpPr>
          <p:cNvPr id="16" name="Shape 14"/>
          <p:cNvSpPr/>
          <p:nvPr/>
        </p:nvSpPr>
        <p:spPr>
          <a:xfrm>
            <a:off x="812800" y="3248422"/>
            <a:ext cx="3386634" cy="1475581"/>
          </a:xfrm>
          <a:custGeom>
            <a:avLst/>
            <a:gdLst/>
            <a:ahLst/>
            <a:cxnLst/>
            <a:rect l="l" t="t" r="r" b="b"/>
            <a:pathLst>
              <a:path w="3386634" h="1475581">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8A1F25"/>
          </a:solidFill>
          <a:ln/>
        </p:spPr>
      </p:sp>
      <p:sp>
        <p:nvSpPr>
          <p:cNvPr id="17" name="Text 15"/>
          <p:cNvSpPr/>
          <p:nvPr/>
        </p:nvSpPr>
        <p:spPr>
          <a:xfrm>
            <a:off x="1016000" y="3489722"/>
            <a:ext cx="3069641"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124"/>
                </a:solidFill>
                <a:latin typeface="Public Sans" pitchFamily="34" charset="0"/>
                <a:ea typeface="Public Sans" pitchFamily="34" charset="-122"/>
                <a:cs typeface="Public Sans" pitchFamily="34" charset="-120"/>
              </a:rPr>
              <a:t>Rechazos del MES sin congelar</a:t>
            </a:r>
            <a:endParaRPr lang="en-US" sz="1600" dirty="0"/>
          </a:p>
        </p:txBody>
      </p:sp>
      <p:sp>
        <p:nvSpPr>
          <p:cNvPr id="18" name="Text 16"/>
          <p:cNvSpPr/>
          <p:nvPr/>
        </p:nvSpPr>
        <p:spPr>
          <a:xfrm>
            <a:off x="1016000" y="4094163"/>
            <a:ext cx="30696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Public Sans" pitchFamily="34" charset="0"/>
                <a:ea typeface="Public Sans" pitchFamily="34" charset="-122"/>
                <a:cs typeface="Public Sans" pitchFamily="34" charset="-120"/>
              </a:rPr>
              <a:t>La pieza que el MES rechaza se va sola al NG y la máquina sigue trabajando.</a:t>
            </a:r>
            <a:endParaRPr lang="en-US" sz="1200" dirty="0"/>
          </a:p>
        </p:txBody>
      </p:sp>
      <p:sp>
        <p:nvSpPr>
          <p:cNvPr id="19" name="Shape 17"/>
          <p:cNvSpPr/>
          <p:nvPr/>
        </p:nvSpPr>
        <p:spPr>
          <a:xfrm>
            <a:off x="4402634" y="3248422"/>
            <a:ext cx="3386634" cy="1475581"/>
          </a:xfrm>
          <a:prstGeom prst="roundRect">
            <a:avLst>
              <a:gd name="adj" fmla="val 5164"/>
            </a:avLst>
          </a:prstGeom>
          <a:solidFill>
            <a:srgbClr val="FFFFFF"/>
          </a:solidFill>
          <a:ln/>
        </p:spPr>
      </p:sp>
      <p:sp>
        <p:nvSpPr>
          <p:cNvPr id="20" name="Shape 18"/>
          <p:cNvSpPr/>
          <p:nvPr/>
        </p:nvSpPr>
        <p:spPr>
          <a:xfrm>
            <a:off x="4402634" y="3248422"/>
            <a:ext cx="3386634" cy="1475581"/>
          </a:xfrm>
          <a:custGeom>
            <a:avLst/>
            <a:gdLst/>
            <a:ahLst/>
            <a:cxnLst/>
            <a:rect l="l" t="t" r="r" b="b"/>
            <a:pathLst>
              <a:path w="3386634" h="1475581">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8A1F25"/>
          </a:solidFill>
          <a:ln/>
        </p:spPr>
      </p:sp>
      <p:sp>
        <p:nvSpPr>
          <p:cNvPr id="21" name="Text 19"/>
          <p:cNvSpPr/>
          <p:nvPr/>
        </p:nvSpPr>
        <p:spPr>
          <a:xfrm>
            <a:off x="4605834" y="3489722"/>
            <a:ext cx="3069641"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124"/>
                </a:solidFill>
                <a:latin typeface="Public Sans" pitchFamily="34" charset="0"/>
                <a:ea typeface="Public Sans" pitchFamily="34" charset="-122"/>
                <a:cs typeface="Public Sans" pitchFamily="34" charset="-120"/>
              </a:rPr>
              <a:t>Botones de pallet</a:t>
            </a:r>
            <a:endParaRPr lang="en-US" sz="1600" dirty="0"/>
          </a:p>
        </p:txBody>
      </p:sp>
      <p:sp>
        <p:nvSpPr>
          <p:cNvPr id="22" name="Text 20"/>
          <p:cNvSpPr/>
          <p:nvPr/>
        </p:nvSpPr>
        <p:spPr>
          <a:xfrm>
            <a:off x="4605834" y="3830042"/>
            <a:ext cx="30696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Public Sans" pitchFamily="34" charset="0"/>
                <a:ea typeface="Public Sans" pitchFamily="34" charset="-122"/>
                <a:cs typeface="Public Sans" pitchFamily="34" charset="-120"/>
              </a:rPr>
              <a:t>Entrada y salida del pallet desde la pantalla principal, sin entrar a menús.</a:t>
            </a:r>
            <a:endParaRPr lang="en-US" sz="1200" dirty="0"/>
          </a:p>
        </p:txBody>
      </p:sp>
      <p:sp>
        <p:nvSpPr>
          <p:cNvPr id="23" name="Shape 21"/>
          <p:cNvSpPr/>
          <p:nvPr/>
        </p:nvSpPr>
        <p:spPr>
          <a:xfrm>
            <a:off x="7992467" y="3248422"/>
            <a:ext cx="3386733" cy="1475581"/>
          </a:xfrm>
          <a:prstGeom prst="roundRect">
            <a:avLst>
              <a:gd name="adj" fmla="val 5164"/>
            </a:avLst>
          </a:prstGeom>
          <a:solidFill>
            <a:srgbClr val="FFFFFF"/>
          </a:solidFill>
          <a:ln/>
        </p:spPr>
      </p:sp>
      <p:sp>
        <p:nvSpPr>
          <p:cNvPr id="24" name="Shape 22"/>
          <p:cNvSpPr/>
          <p:nvPr/>
        </p:nvSpPr>
        <p:spPr>
          <a:xfrm>
            <a:off x="7992467" y="3248422"/>
            <a:ext cx="3386733" cy="1475581"/>
          </a:xfrm>
          <a:custGeom>
            <a:avLst/>
            <a:gdLst/>
            <a:ahLst/>
            <a:cxnLst/>
            <a:rect l="l" t="t" r="r" b="b"/>
            <a:pathLst>
              <a:path w="3386733" h="1475581">
                <a:moveTo>
                  <a:pt x="0" y="76200"/>
                </a:moveTo>
                <a:lnTo>
                  <a:pt x="0" y="76200"/>
                </a:lnTo>
                <a:arcTo hR="76200" wR="76200" stAng="10800000" swAng="5400000"/>
                <a:lnTo>
                  <a:pt x="3310533" y="0"/>
                </a:lnTo>
                <a:arcTo hR="76200" wR="76200" stAng="16200000" swAng="5400000"/>
                <a:lnTo>
                  <a:pt x="3386733" y="76200"/>
                </a:lnTo>
                <a:arcTo hR="38100" wR="76200" stAng="0" swAng="-5400000"/>
                <a:lnTo>
                  <a:pt x="76200" y="38100"/>
                </a:lnTo>
                <a:arcTo hR="38100" wR="76200" stAng="16200000" swAng="-5400000"/>
                <a:close/>
              </a:path>
            </a:pathLst>
          </a:custGeom>
          <a:solidFill>
            <a:srgbClr val="8A1F25"/>
          </a:solidFill>
          <a:ln/>
        </p:spPr>
      </p:sp>
      <p:sp>
        <p:nvSpPr>
          <p:cNvPr id="25" name="Text 23"/>
          <p:cNvSpPr/>
          <p:nvPr/>
        </p:nvSpPr>
        <p:spPr>
          <a:xfrm>
            <a:off x="8195667" y="3489722"/>
            <a:ext cx="3069743"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124"/>
                </a:solidFill>
                <a:latin typeface="Public Sans" pitchFamily="34" charset="0"/>
                <a:ea typeface="Public Sans" pitchFamily="34" charset="-122"/>
                <a:cs typeface="Public Sans" pitchFamily="34" charset="-120"/>
              </a:rPr>
              <a:t>Avisos más claros</a:t>
            </a:r>
            <a:endParaRPr lang="en-US" sz="1600" dirty="0"/>
          </a:p>
        </p:txBody>
      </p:sp>
      <p:sp>
        <p:nvSpPr>
          <p:cNvPr id="26" name="Text 24"/>
          <p:cNvSpPr/>
          <p:nvPr/>
        </p:nvSpPr>
        <p:spPr>
          <a:xfrm>
            <a:off x="8195667" y="3830042"/>
            <a:ext cx="30697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Public Sans" pitchFamily="34" charset="0"/>
                <a:ea typeface="Public Sans" pitchFamily="34" charset="-122"/>
                <a:cs typeface="Public Sans" pitchFamily="34" charset="-120"/>
              </a:rPr>
              <a:t>Las ventanas dicen el lugar, la pieza y el motivo, para resolver más rápido.</a:t>
            </a:r>
            <a:endParaRPr lang="en-US" sz="12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F77"/>
                </a:solidFill>
                <a:latin typeface="Public Sans" pitchFamily="34" charset="0"/>
                <a:ea typeface="Public Sans" pitchFamily="34" charset="-122"/>
                <a:cs typeface="Public Sans" pitchFamily="34" charset="-120"/>
              </a:rPr>
              <a:t>Detalle de cada cambio en el documento de actualizaciones de la línea 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12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F0"/>
                </a:solidFill>
                <a:latin typeface="Oswald" pitchFamily="34" charset="0"/>
                <a:ea typeface="Oswald" pitchFamily="34" charset="-122"/>
                <a:cs typeface="Oswald" pitchFamily="34" charset="-120"/>
              </a:rPr>
              <a:t>Lo que sigue: atacar los paros</a:t>
            </a:r>
            <a:endParaRPr lang="en-US" sz="3600" dirty="0"/>
          </a:p>
        </p:txBody>
      </p:sp>
      <p:sp>
        <p:nvSpPr>
          <p:cNvPr id="3" name="Shape 1"/>
          <p:cNvSpPr/>
          <p:nvPr/>
        </p:nvSpPr>
        <p:spPr>
          <a:xfrm>
            <a:off x="812800" y="1626791"/>
            <a:ext cx="10566400" cy="0"/>
          </a:xfrm>
          <a:prstGeom prst="line">
            <a:avLst/>
          </a:prstGeom>
          <a:noFill/>
          <a:ln w="12700">
            <a:solidFill>
              <a:srgbClr val="3A3F45"/>
            </a:solidFill>
            <a:prstDash val="solid"/>
          </a:ln>
        </p:spPr>
      </p:sp>
      <p:sp>
        <p:nvSpPr>
          <p:cNvPr id="4" name="Text 2"/>
          <p:cNvSpPr/>
          <p:nvPr/>
        </p:nvSpPr>
        <p:spPr>
          <a:xfrm>
            <a:off x="812800" y="1810941"/>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3A9AC"/>
                </a:solidFill>
                <a:latin typeface="Oswald" pitchFamily="34" charset="0"/>
                <a:ea typeface="Oswald" pitchFamily="34" charset="-122"/>
                <a:cs typeface="Oswald" pitchFamily="34" charset="-120"/>
              </a:rPr>
              <a:t>1</a:t>
            </a:r>
            <a:endParaRPr lang="en-US" sz="2200" dirty="0"/>
          </a:p>
        </p:txBody>
      </p:sp>
      <p:sp>
        <p:nvSpPr>
          <p:cNvPr id="5" name="Text 3"/>
          <p:cNvSpPr/>
          <p:nvPr/>
        </p:nvSpPr>
        <p:spPr>
          <a:xfrm>
            <a:off x="1524000" y="1810941"/>
            <a:ext cx="10150856"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F0"/>
                </a:solidFill>
                <a:latin typeface="Public Sans" pitchFamily="34" charset="0"/>
                <a:ea typeface="Public Sans" pitchFamily="34" charset="-122"/>
                <a:cs typeface="Public Sans" pitchFamily="34" charset="-120"/>
              </a:rPr>
              <a:t>Alarma de la cámara (1206).</a:t>
            </a:r>
            <a:r>
              <a:rPr lang="en-US" sz="1600" dirty="0">
                <a:solidFill>
                  <a:srgbClr val="F6F4F0"/>
                </a:solidFill>
                <a:latin typeface="Public Sans" pitchFamily="34" charset="0"/>
                <a:ea typeface="Public Sans" pitchFamily="34" charset="-122"/>
                <a:cs typeface="Public Sans" pitchFamily="34" charset="-120"/>
              </a:rPr>
              <a:t> Es la que más se repite. Ya está lista una versión que toma varias fotos antes de alarmar; falta probarla en línea.</a:t>
            </a:r>
            <a:endParaRPr lang="en-US" sz="1600" dirty="0"/>
          </a:p>
        </p:txBody>
      </p:sp>
      <p:sp>
        <p:nvSpPr>
          <p:cNvPr id="6" name="Shape 4"/>
          <p:cNvSpPr/>
          <p:nvPr/>
        </p:nvSpPr>
        <p:spPr>
          <a:xfrm>
            <a:off x="812800" y="2716411"/>
            <a:ext cx="10566400" cy="0"/>
          </a:xfrm>
          <a:prstGeom prst="line">
            <a:avLst/>
          </a:prstGeom>
          <a:noFill/>
          <a:ln w="12700">
            <a:solidFill>
              <a:srgbClr val="3A3F45"/>
            </a:solidFill>
            <a:prstDash val="solid"/>
          </a:ln>
        </p:spPr>
      </p:sp>
      <p:sp>
        <p:nvSpPr>
          <p:cNvPr id="7" name="Text 5"/>
          <p:cNvSpPr/>
          <p:nvPr/>
        </p:nvSpPr>
        <p:spPr>
          <a:xfrm>
            <a:off x="812800" y="2900561"/>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3A9AC"/>
                </a:solidFill>
                <a:latin typeface="Oswald" pitchFamily="34" charset="0"/>
                <a:ea typeface="Oswald" pitchFamily="34" charset="-122"/>
                <a:cs typeface="Oswald" pitchFamily="34" charset="-120"/>
              </a:rPr>
              <a:t>2</a:t>
            </a:r>
            <a:endParaRPr lang="en-US" sz="2200" dirty="0"/>
          </a:p>
        </p:txBody>
      </p:sp>
      <p:sp>
        <p:nvSpPr>
          <p:cNvPr id="8" name="Text 6"/>
          <p:cNvSpPr/>
          <p:nvPr/>
        </p:nvSpPr>
        <p:spPr>
          <a:xfrm>
            <a:off x="1524000" y="2900561"/>
            <a:ext cx="1015085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F0"/>
                </a:solidFill>
                <a:latin typeface="Public Sans" pitchFamily="34" charset="0"/>
                <a:ea typeface="Public Sans" pitchFamily="34" charset="-122"/>
                <a:cs typeface="Public Sans" pitchFamily="34" charset="-120"/>
              </a:rPr>
              <a:t>El robot que no contesta (1635).</a:t>
            </a:r>
            <a:r>
              <a:rPr lang="en-US" sz="1600" dirty="0">
                <a:solidFill>
                  <a:srgbClr val="F6F4F0"/>
                </a:solidFill>
                <a:latin typeface="Public Sans" pitchFamily="34" charset="0"/>
                <a:ea typeface="Public Sans" pitchFamily="34" charset="-122"/>
                <a:cs typeface="Public Sans" pitchFamily="34" charset="-120"/>
              </a:rPr>
              <a:t> Subió un poco con las 2.1; es la siguiente a revisar.</a:t>
            </a:r>
            <a:endParaRPr lang="en-US" sz="1600" dirty="0"/>
          </a:p>
        </p:txBody>
      </p:sp>
      <p:sp>
        <p:nvSpPr>
          <p:cNvPr id="9" name="Shape 7"/>
          <p:cNvSpPr/>
          <p:nvPr/>
        </p:nvSpPr>
        <p:spPr>
          <a:xfrm>
            <a:off x="812800" y="3628231"/>
            <a:ext cx="10566400" cy="0"/>
          </a:xfrm>
          <a:prstGeom prst="line">
            <a:avLst/>
          </a:prstGeom>
          <a:noFill/>
          <a:ln w="12700">
            <a:solidFill>
              <a:srgbClr val="3A3F45"/>
            </a:solidFill>
            <a:prstDash val="solid"/>
          </a:ln>
        </p:spPr>
      </p:sp>
      <p:sp>
        <p:nvSpPr>
          <p:cNvPr id="10" name="Shape 8"/>
          <p:cNvSpPr/>
          <p:nvPr/>
        </p:nvSpPr>
        <p:spPr>
          <a:xfrm>
            <a:off x="812800" y="4565452"/>
            <a:ext cx="10566400" cy="0"/>
          </a:xfrm>
          <a:prstGeom prst="line">
            <a:avLst/>
          </a:prstGeom>
          <a:noFill/>
          <a:ln w="12700">
            <a:solidFill>
              <a:srgbClr val="3A3F45"/>
            </a:solidFill>
            <a:prstDash val="solid"/>
          </a:ln>
        </p:spPr>
      </p:sp>
      <p:sp>
        <p:nvSpPr>
          <p:cNvPr id="11" name="Text 9"/>
          <p:cNvSpPr/>
          <p:nvPr/>
        </p:nvSpPr>
        <p:spPr>
          <a:xfrm>
            <a:off x="812800" y="3812381"/>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3A9AC"/>
                </a:solidFill>
                <a:latin typeface="Oswald" pitchFamily="34" charset="0"/>
                <a:ea typeface="Oswald" pitchFamily="34" charset="-122"/>
                <a:cs typeface="Oswald" pitchFamily="34" charset="-120"/>
              </a:rPr>
              <a:t>3</a:t>
            </a:r>
            <a:endParaRPr lang="en-US" sz="2200" dirty="0"/>
          </a:p>
        </p:txBody>
      </p:sp>
      <p:sp>
        <p:nvSpPr>
          <p:cNvPr id="12" name="Text 10"/>
          <p:cNvSpPr/>
          <p:nvPr/>
        </p:nvSpPr>
        <p:spPr>
          <a:xfrm>
            <a:off x="1524000" y="3812381"/>
            <a:ext cx="10150856"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F0"/>
                </a:solidFill>
                <a:latin typeface="Public Sans" pitchFamily="34" charset="0"/>
                <a:ea typeface="Public Sans" pitchFamily="34" charset="-122"/>
                <a:cs typeface="Public Sans" pitchFamily="34" charset="-120"/>
              </a:rPr>
              <a:t>Seguir midiendo.</a:t>
            </a:r>
            <a:r>
              <a:rPr lang="en-US" sz="1600" dirty="0">
                <a:solidFill>
                  <a:srgbClr val="F6F4F0"/>
                </a:solidFill>
                <a:latin typeface="Public Sans" pitchFamily="34" charset="0"/>
                <a:ea typeface="Public Sans" pitchFamily="34" charset="-122"/>
                <a:cs typeface="Public Sans" pitchFamily="34" charset="-120"/>
              </a:rPr>
              <a:t> Tres días completos por periodo es poco: repetir esta comparación en las próximas semanas.</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3C9"/>
                </a:solidFill>
                <a:latin typeface="Public Sans" pitchFamily="34" charset="0"/>
                <a:ea typeface="Public Sans" pitchFamily="34" charset="-122"/>
                <a:cs typeface="Public Sans" pitchFamily="34" charset="-120"/>
              </a:rPr>
              <a:t>Los datos son de la última máquina de la línea: un paro en otra máquina también se ve aquí como tiempo perdido</a:t>
            </a:r>
            <a:endParaRPr lang="en-US" sz="1200" dirty="0"/>
          </a:p>
        </p:txBody>
      </p:sp>
    </p:spTree>
  </p:cSld>
  <p:clrMapOvr>
    <a:masterClrMapping/>
  </p:clrMapOvr>
</p:sld>
</file>

<file path=ppt/theme/theme1.xml><?xml version="1.0" encoding="utf-8"?>
<a:theme xmlns:a="http://schemas.openxmlformats.org/drawingml/2006/main" name="Avances de producción · Línea 2">
  <a:themeElements>
    <a:clrScheme name="Avances de producción · Línea 2">
      <a:dk1>
        <a:srgbClr val="1E2124"/>
      </a:dk1>
      <a:lt1>
        <a:srgbClr val="F6F4F0"/>
      </a:lt1>
      <a:dk2>
        <a:srgbClr val="545657"/>
      </a:dk2>
      <a:lt2>
        <a:srgbClr val="E0DFDC"/>
      </a:lt2>
      <a:accent1>
        <a:srgbClr val="8A1F25"/>
      </a:accent1>
      <a:accent2>
        <a:srgbClr val="E3A9AC"/>
      </a:accent2>
      <a:accent3>
        <a:srgbClr val="D9A7AA"/>
      </a:accent3>
      <a:accent4>
        <a:srgbClr val="4A4F57"/>
      </a:accent4>
      <a:accent5>
        <a:srgbClr val="6A6F77"/>
      </a:accent5>
      <a:accent6>
        <a:srgbClr val="BFC3C9"/>
      </a:accent6>
      <a:hlink>
        <a:srgbClr val="0563C1"/>
      </a:hlink>
      <a:folHlink>
        <a:srgbClr val="954F72"/>
      </a:folHlink>
    </a:clrScheme>
    <a:fontScheme name="Avances de producción · Línea 2">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Avances de producción · Línea 2</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2026-10-21T16:59:26Z</dcterms:created>
  <dcterms:modified xsi:type="dcterms:W3CDTF">2026-10-21T16:59:26Z</dcterms:modified>
</cp:coreProperties>
</file>