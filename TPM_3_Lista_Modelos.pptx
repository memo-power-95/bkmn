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43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57" autoAdjust="0"/>
    <p:restoredTop sz="95332" autoAdjust="0"/>
  </p:normalViewPr>
  <p:slideViewPr>
    <p:cSldViewPr snapToGrid="0">
      <p:cViewPr varScale="1">
        <p:scale>
          <a:sx n="112" d="100"/>
          <a:sy n="112" d="100"/>
        </p:scale>
        <p:origin x="114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6EB0B-3736-454C-BDC9-CFE6B03A8AAF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146203-DBE1-497C-BB2D-98327BF1F7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952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5264">
              <a:defRPr/>
            </a:pPr>
            <a:endParaRPr lang="en-US" altLang="ko-KR" dirty="0">
              <a:solidFill>
                <a:schemeClr val="tx1"/>
              </a:solidFill>
              <a:latin typeface="Arial Narrow" pitchFamily="34" charset="0"/>
              <a:ea typeface="가는둥근제목체" pitchFamily="18" charset="-127"/>
              <a:cs typeface="Times New Roman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43883B-7D6F-4E64-B93B-9457A9247E9C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3268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6958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5744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 txBox="1">
            <a:spLocks noChangeArrowheads="1"/>
          </p:cNvSpPr>
          <p:nvPr userDrawn="1"/>
        </p:nvSpPr>
        <p:spPr bwMode="auto">
          <a:xfrm>
            <a:off x="100000" y="536107"/>
            <a:ext cx="800477" cy="166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eaLnBrk="1" fontAlgn="auto" hangingPunct="1">
              <a:spcAft>
                <a:spcPts val="0"/>
              </a:spcAft>
              <a:defRPr sz="20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90000"/>
              </a:lnSpc>
            </a:pPr>
            <a:r>
              <a:rPr lang="ko-KR" altLang="en-US" sz="1200" b="1" u="none" spc="-30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☞</a:t>
            </a:r>
            <a:r>
              <a:rPr lang="ko-KR" altLang="en-US" sz="1200" b="1" u="none" spc="-30" dirty="0">
                <a:solidFill>
                  <a:schemeClr val="tx1"/>
                </a:solidFill>
              </a:rPr>
              <a:t> </a:t>
            </a:r>
            <a:r>
              <a:rPr lang="en-US" altLang="ko-KR" sz="1200" b="1" u="none" spc="-30" dirty="0">
                <a:solidFill>
                  <a:schemeClr val="tx1"/>
                </a:solidFill>
              </a:rPr>
              <a:t>Idea </a:t>
            </a:r>
            <a:r>
              <a:rPr lang="ko-KR" altLang="en-US" sz="1200" b="1" u="none" spc="-30" dirty="0">
                <a:solidFill>
                  <a:schemeClr val="tx1"/>
                </a:solidFill>
              </a:rPr>
              <a:t>발상</a:t>
            </a:r>
            <a:endParaRPr lang="en-US" altLang="ko-KR" sz="1800" b="1" u="none" spc="-30" dirty="0">
              <a:solidFill>
                <a:schemeClr val="tx1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012BBBE0-E98F-588B-E7C8-2FCC7B62B52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6013" y="507035"/>
            <a:ext cx="8957817" cy="1048"/>
          </a:xfrm>
          <a:prstGeom prst="line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06BEC9B-7510-3F9F-4052-5C6CCCB795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45550" y="254538"/>
            <a:ext cx="924824" cy="269374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8B8192F-9FA3-6243-E1A7-4CD2AC29FCAE}"/>
              </a:ext>
            </a:extLst>
          </p:cNvPr>
          <p:cNvSpPr txBox="1"/>
          <p:nvPr userDrawn="1"/>
        </p:nvSpPr>
        <p:spPr>
          <a:xfrm>
            <a:off x="7635488" y="322539"/>
            <a:ext cx="114382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ko-KR" altLang="en-US" sz="800" spc="-4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○ 완료</a:t>
            </a:r>
            <a:r>
              <a:rPr lang="en-US" altLang="ko-KR" sz="800" spc="-4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800" spc="-4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△ 진행 중</a:t>
            </a:r>
            <a:r>
              <a:rPr lang="en-US" altLang="ko-KR" sz="800" spc="-4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, X </a:t>
            </a:r>
            <a:r>
              <a:rPr lang="ko-KR" altLang="en-US" sz="800" spc="-4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불필요</a:t>
            </a:r>
            <a:endParaRPr lang="ko-KR" altLang="en-US" sz="800" spc="-40" baseline="0" dirty="0">
              <a:solidFill>
                <a:prstClr val="black">
                  <a:lumMod val="65000"/>
                  <a:lumOff val="35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MSIPCMContentMarking" descr="{&quot;HashCode&quot;:1951497329,&quot;Placement&quot;:&quot;Footer&quot;,&quot;Top&quot;:521.91,&quot;Left&quot;:0.0,&quot;SlideWidth&quot;:780,&quot;SlideHeight&quot;:540}">
            <a:extLst>
              <a:ext uri="{FF2B5EF4-FFF2-40B4-BE49-F238E27FC236}">
                <a16:creationId xmlns:a16="http://schemas.microsoft.com/office/drawing/2014/main" id="{12AAB368-A7C1-43AE-BFC6-ABE9638B5267}"/>
              </a:ext>
            </a:extLst>
          </p:cNvPr>
          <p:cNvSpPr txBox="1"/>
          <p:nvPr userDrawn="1"/>
        </p:nvSpPr>
        <p:spPr>
          <a:xfrm>
            <a:off x="0" y="6628257"/>
            <a:ext cx="4632731" cy="22974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900">
                <a:solidFill>
                  <a:srgbClr val="808080"/>
                </a:solidFill>
                <a:latin typeface="LG스마트체 SemiBold" panose="020B0600000101010101" pitchFamily="50" charset="-127"/>
              </a:rPr>
              <a:t>LG Innotek Confidential : This document is protected by security policies and laws.</a:t>
            </a:r>
            <a:endParaRPr lang="ko-KR" altLang="en-US" sz="900">
              <a:solidFill>
                <a:srgbClr val="808080"/>
              </a:solidFill>
              <a:latin typeface="LG스마트체 SemiBold" panose="020B0600000101010101" pitchFamily="50" charset="-127"/>
            </a:endParaRPr>
          </a:p>
        </p:txBody>
      </p:sp>
      <p:sp>
        <p:nvSpPr>
          <p:cNvPr id="5" name="MSIPCMContentMarking" descr="{&quot;HashCode&quot;:166943725,&quot;Placement&quot;:&quot;Header&quot;,&quot;Top&quot;:0.0,&quot;Left&quot;:685.0934,&quot;SlideWidth&quot;:780,&quot;SlideHeight&quot;:540}">
            <a:extLst>
              <a:ext uri="{FF2B5EF4-FFF2-40B4-BE49-F238E27FC236}">
                <a16:creationId xmlns:a16="http://schemas.microsoft.com/office/drawing/2014/main" id="{1C6DA701-D2FC-45C4-96C0-A0240BD62C56}"/>
              </a:ext>
            </a:extLst>
          </p:cNvPr>
          <p:cNvSpPr txBox="1"/>
          <p:nvPr userDrawn="1"/>
        </p:nvSpPr>
        <p:spPr>
          <a:xfrm>
            <a:off x="8700686" y="0"/>
            <a:ext cx="1205314" cy="2604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C0004B"/>
                </a:solidFill>
                <a:latin typeface="LG스마트체2.0 Bold" panose="020B0600000101010101" pitchFamily="50" charset="-127"/>
              </a:rPr>
              <a:t>[Confidential]</a:t>
            </a:r>
            <a:endParaRPr lang="ko-KR" altLang="en-US" sz="1100">
              <a:solidFill>
                <a:srgbClr val="C0004B"/>
              </a:solidFill>
              <a:latin typeface="LG스마트체2.0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9210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4C45B1D-E888-4864-B011-5E6CCF1F7936}"/>
              </a:ext>
            </a:extLst>
          </p:cNvPr>
          <p:cNvGrpSpPr/>
          <p:nvPr/>
        </p:nvGrpSpPr>
        <p:grpSpPr>
          <a:xfrm>
            <a:off x="7091806" y="1855036"/>
            <a:ext cx="2728470" cy="4813582"/>
            <a:chOff x="7091806" y="1808152"/>
            <a:chExt cx="2609448" cy="4813582"/>
          </a:xfrm>
        </p:grpSpPr>
        <p:sp>
          <p:nvSpPr>
            <p:cNvPr id="56" name="AutoShape 20"/>
            <p:cNvSpPr>
              <a:spLocks noChangeArrowheads="1"/>
            </p:cNvSpPr>
            <p:nvPr/>
          </p:nvSpPr>
          <p:spPr bwMode="auto">
            <a:xfrm>
              <a:off x="7091806" y="2013357"/>
              <a:ext cx="2609448" cy="4608377"/>
            </a:xfrm>
            <a:prstGeom prst="roundRect">
              <a:avLst>
                <a:gd name="adj" fmla="val 2403"/>
              </a:avLst>
            </a:prstGeom>
            <a:solidFill>
              <a:schemeClr val="bg1"/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55" name="AutoShape 20"/>
            <p:cNvSpPr>
              <a:spLocks noChangeArrowheads="1"/>
            </p:cNvSpPr>
            <p:nvPr/>
          </p:nvSpPr>
          <p:spPr bwMode="auto">
            <a:xfrm>
              <a:off x="7091806" y="1808152"/>
              <a:ext cx="2609448" cy="294484"/>
            </a:xfrm>
            <a:prstGeom prst="roundRect">
              <a:avLst>
                <a:gd name="adj" fmla="val 10700"/>
              </a:avLst>
            </a:prstGeom>
            <a:solidFill>
              <a:schemeClr val="bg1">
                <a:lumMod val="85000"/>
              </a:schemeClr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419" altLang="ko-KR" sz="1400" b="1" kern="0" dirty="0">
                  <a:solidFill>
                    <a:sysClr val="windowText" lastClr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After </a:t>
              </a:r>
              <a:r>
                <a:rPr lang="es-419" altLang="ko-KR" sz="1400" b="1" kern="0" dirty="0" err="1">
                  <a:solidFill>
                    <a:sysClr val="windowText" lastClr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improvement</a:t>
              </a:r>
              <a:endPara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C70F6EBB-F0F3-4470-A73A-8A760F7D4373}"/>
              </a:ext>
            </a:extLst>
          </p:cNvPr>
          <p:cNvGrpSpPr/>
          <p:nvPr/>
        </p:nvGrpSpPr>
        <p:grpSpPr>
          <a:xfrm>
            <a:off x="3203374" y="1855036"/>
            <a:ext cx="3816424" cy="4814324"/>
            <a:chOff x="3203374" y="1807410"/>
            <a:chExt cx="3816424" cy="4814324"/>
          </a:xfrm>
        </p:grpSpPr>
        <p:sp>
          <p:nvSpPr>
            <p:cNvPr id="66" name="AutoShape 20"/>
            <p:cNvSpPr>
              <a:spLocks noChangeArrowheads="1"/>
            </p:cNvSpPr>
            <p:nvPr/>
          </p:nvSpPr>
          <p:spPr bwMode="auto">
            <a:xfrm>
              <a:off x="3203374" y="2013358"/>
              <a:ext cx="3816424" cy="4608376"/>
            </a:xfrm>
            <a:prstGeom prst="roundRect">
              <a:avLst>
                <a:gd name="adj" fmla="val 2403"/>
              </a:avLst>
            </a:prstGeom>
            <a:solidFill>
              <a:schemeClr val="bg1"/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5" name="AutoShape 20"/>
            <p:cNvSpPr>
              <a:spLocks noChangeArrowheads="1"/>
            </p:cNvSpPr>
            <p:nvPr/>
          </p:nvSpPr>
          <p:spPr bwMode="auto">
            <a:xfrm>
              <a:off x="3203374" y="1807410"/>
              <a:ext cx="3816424" cy="291459"/>
            </a:xfrm>
            <a:prstGeom prst="roundRect">
              <a:avLst>
                <a:gd name="adj" fmla="val 10700"/>
              </a:avLst>
            </a:prstGeom>
            <a:solidFill>
              <a:schemeClr val="bg1">
                <a:lumMod val="85000"/>
              </a:schemeClr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itchFamily="34" charset="0"/>
                </a:rPr>
                <a:t>Breakthrough</a:t>
              </a: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AD6F9705-D935-4A94-8CF5-843F594B71F8}"/>
              </a:ext>
            </a:extLst>
          </p:cNvPr>
          <p:cNvGrpSpPr/>
          <p:nvPr/>
        </p:nvGrpSpPr>
        <p:grpSpPr>
          <a:xfrm>
            <a:off x="118050" y="1817277"/>
            <a:ext cx="3047476" cy="4813582"/>
            <a:chOff x="161878" y="1808152"/>
            <a:chExt cx="2969488" cy="4813582"/>
          </a:xfrm>
        </p:grpSpPr>
        <p:sp>
          <p:nvSpPr>
            <p:cNvPr id="44" name="AutoShape 20"/>
            <p:cNvSpPr>
              <a:spLocks noChangeArrowheads="1"/>
            </p:cNvSpPr>
            <p:nvPr/>
          </p:nvSpPr>
          <p:spPr bwMode="auto">
            <a:xfrm>
              <a:off x="161878" y="2013358"/>
              <a:ext cx="2969488" cy="4608376"/>
            </a:xfrm>
            <a:prstGeom prst="roundRect">
              <a:avLst>
                <a:gd name="adj" fmla="val 2403"/>
              </a:avLst>
            </a:prstGeom>
            <a:solidFill>
              <a:schemeClr val="bg1"/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43" name="AutoShape 20"/>
            <p:cNvSpPr>
              <a:spLocks noChangeArrowheads="1"/>
            </p:cNvSpPr>
            <p:nvPr/>
          </p:nvSpPr>
          <p:spPr bwMode="auto">
            <a:xfrm>
              <a:off x="161878" y="1808152"/>
              <a:ext cx="2969488" cy="294484"/>
            </a:xfrm>
            <a:prstGeom prst="roundRect">
              <a:avLst>
                <a:gd name="adj" fmla="val 10700"/>
              </a:avLst>
            </a:prstGeom>
            <a:solidFill>
              <a:schemeClr val="bg1">
                <a:lumMod val="85000"/>
              </a:schemeClr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algn="ctr" latinLnBrk="0">
                <a:defRPr/>
              </a:pPr>
              <a:r>
                <a:rPr lang="es-MX" altLang="ko-KR" sz="1400" b="1" kern="0" dirty="0" err="1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Before</a:t>
              </a:r>
              <a:r>
                <a:rPr lang="es-MX" altLang="ko-KR" sz="1400" b="1" kern="0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 </a:t>
              </a:r>
              <a:r>
                <a:rPr lang="es-MX" altLang="ko-KR" sz="1400" b="1" kern="0" dirty="0" err="1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improvement</a:t>
              </a:r>
              <a:endParaRPr lang="ko-KR" altLang="en-US" sz="1400" b="1" kern="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itchFamily="50" charset="-127"/>
              </a:endParaRPr>
            </a:p>
          </p:txBody>
        </p:sp>
      </p:grpSp>
      <p:sp>
        <p:nvSpPr>
          <p:cNvPr id="40" name="Rectangle 4"/>
          <p:cNvSpPr txBox="1">
            <a:spLocks noChangeArrowheads="1"/>
          </p:cNvSpPr>
          <p:nvPr/>
        </p:nvSpPr>
        <p:spPr bwMode="auto">
          <a:xfrm>
            <a:off x="54755" y="102355"/>
            <a:ext cx="7105346" cy="276999"/>
          </a:xfrm>
          <a:prstGeom prst="rect">
            <a:avLst/>
          </a:prstGeom>
          <a:noFill/>
        </p:spPr>
        <p:txBody>
          <a:bodyPr wrap="square" lIns="72000" tIns="0" rIns="36000" bIns="0">
            <a:spAutoFit/>
          </a:bodyPr>
          <a:lstStyle>
            <a:defPPr>
              <a:defRPr lang="ko-KR"/>
            </a:defPPr>
            <a:lvl1pPr eaLnBrk="1" fontAlgn="auto" hangingPunct="1">
              <a:spcAft>
                <a:spcPts val="0"/>
              </a:spcAft>
              <a:defRPr sz="20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lvl="0" defTabSz="914400" latinLnBrk="1">
              <a:defRPr/>
            </a:pPr>
            <a:r>
              <a:rPr lang="en-US" altLang="ko-KR" sz="1800" b="1" spc="-30" dirty="0">
                <a:solidFill>
                  <a:prstClr val="black"/>
                </a:solidFill>
                <a:latin typeface="LG스마트체 Regular" panose="020B0600000101010101" pitchFamily="50" charset="-127"/>
              </a:rPr>
              <a:t>Module list ordered by number on the Lot screen</a:t>
            </a:r>
            <a:endParaRPr kumimoji="0" lang="ko-KR" altLang="en-US" sz="1800" b="1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117817" y="1169205"/>
            <a:ext cx="8653040" cy="64807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914400" latinLnBrk="1">
              <a:lnSpc>
                <a:spcPct val="110000"/>
              </a:lnSpc>
              <a:defRPr/>
            </a:pPr>
            <a:r>
              <a:rPr lang="en-US" altLang="ko-KR" sz="16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Install PCB - model selection at changeover</a:t>
            </a:r>
            <a:endParaRPr kumimoji="0" lang="en-US" altLang="ko-KR" sz="1600" b="1" i="0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6" name="Text Box 22">
            <a:extLst>
              <a:ext uri="{FF2B5EF4-FFF2-40B4-BE49-F238E27FC236}">
                <a16:creationId xmlns:a16="http://schemas.microsoft.com/office/drawing/2014/main" id="{0A503ADC-8EA4-4A95-9C09-007B0C087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23" y="2168612"/>
            <a:ext cx="2193527" cy="236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0" rIns="9000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s-419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PHENOMENON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7" name="Text Box 22">
            <a:extLst>
              <a:ext uri="{FF2B5EF4-FFF2-40B4-BE49-F238E27FC236}">
                <a16:creationId xmlns:a16="http://schemas.microsoft.com/office/drawing/2014/main" id="{73F804E7-6ED1-4161-8C22-4CB1C70ED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7354" y="2168612"/>
            <a:ext cx="3355704" cy="236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0" rIns="9000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es-419" altLang="ko-KR" sz="13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IMPROVEMENTS</a:t>
            </a:r>
            <a:endParaRPr kumimoji="1" lang="ko-KR" altLang="en-US" sz="1300" b="1" i="0" u="none" strike="noStrike" kern="120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7" name="Text Box 22">
            <a:extLst>
              <a:ext uri="{FF2B5EF4-FFF2-40B4-BE49-F238E27FC236}">
                <a16:creationId xmlns:a16="http://schemas.microsoft.com/office/drawing/2014/main" id="{018B34FB-86FD-426E-BD3D-63EF79032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88" y="2433268"/>
            <a:ext cx="3136204" cy="771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71450" indent="-171450" defTabSz="914400" latinLnBrk="1">
              <a:buFontTx/>
              <a:buChar char="-"/>
              <a:defRPr/>
            </a:pPr>
            <a:r>
              <a:rPr kumimoji="0"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The module list showed more than 70 entries with no order, so at every changeover the operator had to scroll through the whole list looking for the model.</a:t>
            </a:r>
          </a:p>
        </p:txBody>
      </p:sp>
      <p:sp>
        <p:nvSpPr>
          <p:cNvPr id="100" name="Text Box 22">
            <a:extLst>
              <a:ext uri="{FF2B5EF4-FFF2-40B4-BE49-F238E27FC236}">
                <a16:creationId xmlns:a16="http://schemas.microsoft.com/office/drawing/2014/main" id="{281CC93F-E659-4A34-B26F-E7FDC768F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1374" y="2286753"/>
            <a:ext cx="2744430" cy="1325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defPPr>
              <a:defRPr lang="en-US"/>
            </a:defPPr>
            <a:lvl1pPr algn="just" eaLnBrk="0" hangingPunct="0">
              <a:defRPr kumimoji="1" sz="11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s-MX" sz="1400" b="1" dirty="0"/>
              <a:t> </a:t>
            </a:r>
            <a:r>
              <a:rPr lang="es-419" altLang="ko-KR" sz="1400" b="1" dirty="0"/>
              <a:t>EFFECT: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/>
              <a:t>Model selection at changeover is now immediate and predictable, with no scrolling through unordered entries.</a:t>
            </a:r>
            <a:endParaRPr lang="ko-KR" altLang="en-US" dirty="0"/>
          </a:p>
        </p:txBody>
      </p:sp>
      <p:graphicFrame>
        <p:nvGraphicFramePr>
          <p:cNvPr id="104" name="표 103">
            <a:extLst>
              <a:ext uri="{FF2B5EF4-FFF2-40B4-BE49-F238E27FC236}">
                <a16:creationId xmlns:a16="http://schemas.microsoft.com/office/drawing/2014/main" id="{7217E0C3-3242-462A-86FE-317BCFA54321}"/>
              </a:ext>
            </a:extLst>
          </p:cNvPr>
          <p:cNvGraphicFramePr>
            <a:graphicFrameLocks noGrp="1"/>
          </p:cNvGraphicFramePr>
          <p:nvPr/>
        </p:nvGraphicFramePr>
        <p:xfrm>
          <a:off x="8802980" y="1466757"/>
          <a:ext cx="1012824" cy="350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7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192"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00" b="1" kern="900" spc="0" baseline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 Level</a:t>
                      </a:r>
                      <a:r>
                        <a:rPr lang="ko-KR" altLang="en-US" sz="700" b="1" kern="900" spc="0" baseline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구분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 kern="900" spc="-1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 kern="900" spc="-1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A2D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정보화</a:t>
                      </a:r>
                      <a:endParaRPr kumimoji="0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지능화</a:t>
                      </a:r>
                      <a:endParaRPr kumimoji="0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8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5" name="표 104">
            <a:extLst>
              <a:ext uri="{FF2B5EF4-FFF2-40B4-BE49-F238E27FC236}">
                <a16:creationId xmlns:a16="http://schemas.microsoft.com/office/drawing/2014/main" id="{275A48A6-063A-4695-8225-5094514F8224}"/>
              </a:ext>
            </a:extLst>
          </p:cNvPr>
          <p:cNvGraphicFramePr>
            <a:graphicFrameLocks noGrp="1"/>
          </p:cNvGraphicFramePr>
          <p:nvPr/>
        </p:nvGraphicFramePr>
        <p:xfrm>
          <a:off x="8807451" y="560208"/>
          <a:ext cx="1012827" cy="8744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1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485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ko-KR" altLang="en-US" sz="700" b="1" kern="9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영역</a:t>
                      </a:r>
                      <a:endParaRPr lang="en-US" altLang="ko-KR" sz="700" b="1" kern="900" spc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700" b="1" kern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Analog</a:t>
                      </a:r>
                      <a:br>
                        <a:rPr lang="en-US" altLang="ko-KR" sz="700" b="1" kern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1" kern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BP</a:t>
                      </a:r>
                      <a:endParaRPr lang="ko-KR" altLang="en-US" sz="700" b="1" kern="9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700" b="1" kern="900" spc="-30" baseline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</a:t>
                      </a:r>
                      <a:br>
                        <a:rPr lang="en-US" altLang="ko-KR" sz="700" b="1" kern="900" spc="-30" baseline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1" kern="900" spc="-30" baseline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BP</a:t>
                      </a:r>
                      <a:endParaRPr lang="ko-KR" altLang="en-US" sz="700" b="1" kern="900" spc="-30" baseline="0" dirty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이물</a:t>
                      </a:r>
                      <a:r>
                        <a:rPr lang="en-US" altLang="ko-KR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생산성</a:t>
                      </a:r>
                      <a:endParaRPr lang="en-US" altLang="ko-KR" sz="7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성능</a:t>
                      </a:r>
                      <a:r>
                        <a:rPr lang="en-US" altLang="ko-KR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품질</a:t>
                      </a:r>
                      <a:endParaRPr lang="en-US" altLang="ko-KR" sz="7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○</a:t>
                      </a: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프로세스</a:t>
                      </a:r>
                      <a:endParaRPr lang="en-US" altLang="ko-KR" sz="7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8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안전환경</a:t>
                      </a:r>
                      <a:endParaRPr lang="en-US" altLang="ko-KR" sz="7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88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고객가치</a:t>
                      </a:r>
                      <a:endParaRPr lang="en-US" altLang="ko-KR" sz="7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1280698"/>
                  </a:ext>
                </a:extLst>
              </a:tr>
            </a:tbl>
          </a:graphicData>
        </a:graphic>
      </p:graphicFrame>
      <p:graphicFrame>
        <p:nvGraphicFramePr>
          <p:cNvPr id="106" name="표 105">
            <a:extLst>
              <a:ext uri="{FF2B5EF4-FFF2-40B4-BE49-F238E27FC236}">
                <a16:creationId xmlns:a16="http://schemas.microsoft.com/office/drawing/2014/main" id="{01739F50-273D-88B9-0185-931B6BCAB9B7}"/>
              </a:ext>
            </a:extLst>
          </p:cNvPr>
          <p:cNvGraphicFramePr>
            <a:graphicFrameLocks noGrp="1"/>
          </p:cNvGraphicFramePr>
          <p:nvPr/>
        </p:nvGraphicFramePr>
        <p:xfrm>
          <a:off x="7090565" y="28296"/>
          <a:ext cx="1658127" cy="259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전파</a:t>
                      </a:r>
                      <a:endParaRPr lang="en-US" altLang="ko-KR" sz="800" b="1" spc="-1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광학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전장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CTO</a:t>
                      </a:r>
                      <a:endParaRPr lang="ko-KR" altLang="en-US" sz="800" b="1" kern="900" spc="-1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생기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품질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9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△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△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△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△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X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X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8" name="Text Box 22">
            <a:extLst>
              <a:ext uri="{FF2B5EF4-FFF2-40B4-BE49-F238E27FC236}">
                <a16:creationId xmlns:a16="http://schemas.microsoft.com/office/drawing/2014/main" id="{4943835B-8DA4-4869-8C18-DA8250B684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857" y="4444213"/>
            <a:ext cx="2193527" cy="236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0" rIns="9000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s-419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PROBLEM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114F125-DEDC-4A5E-83D0-32A8D040BE99}"/>
              </a:ext>
            </a:extLst>
          </p:cNvPr>
          <p:cNvSpPr/>
          <p:nvPr/>
        </p:nvSpPr>
        <p:spPr>
          <a:xfrm>
            <a:off x="8543390" y="3093457"/>
            <a:ext cx="600604" cy="40664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3" name="Text Box 22">
            <a:extLst>
              <a:ext uri="{FF2B5EF4-FFF2-40B4-BE49-F238E27FC236}">
                <a16:creationId xmlns:a16="http://schemas.microsoft.com/office/drawing/2014/main" id="{8287475F-9343-43DB-A22C-AE7C32D6C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9853" y="2469063"/>
            <a:ext cx="3613965" cy="602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>
              <a:defRPr/>
            </a:pPr>
            <a:r>
              <a:rPr lang="en-US" altLang="ko-KR" sz="11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The module list is now ordered by number, so the operator finds the model directly.</a:t>
            </a:r>
          </a:p>
        </p:txBody>
      </p:sp>
      <p:sp>
        <p:nvSpPr>
          <p:cNvPr id="46" name="Text Box 22">
            <a:extLst>
              <a:ext uri="{FF2B5EF4-FFF2-40B4-BE49-F238E27FC236}">
                <a16:creationId xmlns:a16="http://schemas.microsoft.com/office/drawing/2014/main" id="{FDA1CAA0-6C50-4F01-AABF-43A416B50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88" y="4753587"/>
            <a:ext cx="3136204" cy="1448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914400" latinLnBrk="1">
              <a:defRPr/>
            </a:pPr>
            <a:r>
              <a:rPr lang="en-US" altLang="ko-KR" sz="11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Entries were displayed in load order, with no sorting. Finding a model took time and made it easy to select the wrong one.</a:t>
            </a:r>
          </a:p>
          <a:p>
            <a:pPr defTabSz="914400" latinLnBrk="1">
              <a:defRPr/>
            </a:pPr>
            <a:endParaRPr lang="en-US" altLang="ko-KR" sz="11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  <a:sym typeface="Wingdings" pitchFamily="2" charset="2"/>
            </a:endParaRPr>
          </a:p>
          <a:p>
            <a:pPr defTabSz="914400" latinLnBrk="1">
              <a:defRPr/>
            </a:pPr>
            <a:r>
              <a:rPr lang="en-US" altLang="ko-KR" sz="11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At changeover this adds time to a step that is already on the critical path of the line.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2C7A66-96E5-67E7-0D50-F80DB89DD3EB}"/>
              </a:ext>
            </a:extLst>
          </p:cNvPr>
          <p:cNvSpPr txBox="1"/>
          <p:nvPr/>
        </p:nvSpPr>
        <p:spPr>
          <a:xfrm>
            <a:off x="4250616" y="576400"/>
            <a:ext cx="4498076" cy="3847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555"/>
              </a:spcAft>
            </a:pPr>
            <a:r>
              <a:rPr lang="ko-KR" altLang="en-US" sz="1000" spc="-29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■ Date : </a:t>
            </a:r>
            <a:r>
              <a:rPr lang="es-MX" altLang="ko-KR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18</a:t>
            </a:r>
            <a:r>
              <a:rPr lang="en-US" altLang="ko-KR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/09/2026</a:t>
            </a:r>
            <a:r>
              <a:rPr lang="ko-KR" altLang="en-US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spc="-29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■ Writer : </a:t>
            </a:r>
            <a:r>
              <a:rPr lang="es-MX" altLang="ko-KR" sz="1000" spc="-29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Guillermo Carrillo</a:t>
            </a:r>
            <a:r>
              <a:rPr lang="en-US" altLang="ko-KR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</a:t>
            </a:r>
            <a:r>
              <a:rPr lang="ko-KR" altLang="en-US" sz="1000" spc="-29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■ Division: </a:t>
            </a:r>
            <a:r>
              <a:rPr lang="en-US" altLang="ko-KR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CM</a:t>
            </a:r>
            <a:r>
              <a:rPr lang="ko-KR" altLang="en-US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</a:t>
            </a:r>
            <a:r>
              <a:rPr lang="ko-KR" altLang="en-US" sz="1000" spc="-29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■ Team:</a:t>
            </a:r>
            <a:r>
              <a:rPr lang="ko-KR" altLang="en-US" sz="1000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b="1" spc="-29">
                <a:latin typeface="Arial Narrow" panose="020B0606020202030204" pitchFamily="34" charset="0"/>
                <a:ea typeface="LG스마트체 Regular" panose="020B0600000101010101" pitchFamily="50" charset="-127"/>
              </a:rPr>
              <a:t>Production </a:t>
            </a:r>
          </a:p>
          <a:p>
            <a:pPr>
              <a:spcAft>
                <a:spcPts val="555"/>
              </a:spcAft>
            </a:pPr>
            <a:endParaRPr lang="en-US" altLang="ko-KR" sz="1000" b="1" spc="-29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1" name="Text Box 22">
            <a:extLst>
              <a:ext uri="{FF2B5EF4-FFF2-40B4-BE49-F238E27FC236}">
                <a16:creationId xmlns:a16="http://schemas.microsoft.com/office/drawing/2014/main" id="{281CC93F-E659-4A34-B26F-E7FDC768F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6757" y="4125280"/>
            <a:ext cx="2410873" cy="2172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defPPr>
              <a:defRPr lang="en-US"/>
            </a:defPPr>
            <a:lvl1pPr algn="just" eaLnBrk="0" hangingPunct="0">
              <a:defRPr kumimoji="1" sz="11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s-MX" altLang="ko-KR" sz="1400" b="1" dirty="0"/>
              <a:t>IMPACT:</a:t>
            </a:r>
            <a:endParaRPr lang="es-419" altLang="ko-KR" sz="14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/>
              <a:t>Shorter changeover time.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altLang="ko-KR" dirty="0" err="1"/>
              <a:t>Lower risk of selecting the wrong model.</a:t>
            </a:r>
            <a:r>
              <a:rPr lang="es-MX" altLang="ko-KR" dirty="0"/>
              <a:t>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MX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/>
              <a:t>Applicable to the other stations that show the same list.</a:t>
            </a:r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277620" y="5919793"/>
            <a:ext cx="36086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sz="1100" dirty="0">
              <a:latin typeface="LG스마트체 Regular" panose="020B0600000101010101" pitchFamily="34" charset="-127"/>
              <a:ea typeface="LG스마트체 Regular" panose="020B0600000101010101" pitchFamily="34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96917" y="3764733"/>
            <a:ext cx="16228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sz="1100" dirty="0">
              <a:latin typeface="LG스마트체 Regular" panose="020B0600000101010101" pitchFamily="34" charset="-127"/>
              <a:ea typeface="LG스마트체 Regular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5971772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9b8a968-831d-4cfc-b1f9-4367a1331151}" enabled="1" method="Privileged" siteId="{e6c7989d-a5fe-4b7b-a335-3288406db2fd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895</TotalTime>
  <Words>221</Words>
  <Application>Microsoft Office PowerPoint</Application>
  <PresentationFormat>A4 Paper (210x297 mm)</PresentationFormat>
  <Paragraphs>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바탕</vt:lpstr>
      <vt:lpstr>LG스마트체 Regular</vt:lpstr>
      <vt:lpstr>LG스마트체 SemiBold</vt:lpstr>
      <vt:lpstr>LG스마트체2.0 Bold</vt:lpstr>
      <vt:lpstr>맑은 고딕</vt:lpstr>
      <vt:lpstr>Arial</vt:lpstr>
      <vt:lpstr>Arial Narrow</vt:lpstr>
      <vt:lpstr>Wingdings</vt:lpstr>
      <vt:lpstr>3_Office 테마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haeyun Jeong(정해윤)</dc:creator>
  <cp:lastModifiedBy>Gerardo Ulises Nieto Sanchez</cp:lastModifiedBy>
  <cp:revision>54</cp:revision>
  <dcterms:created xsi:type="dcterms:W3CDTF">2024-01-23T23:13:38Z</dcterms:created>
  <dcterms:modified xsi:type="dcterms:W3CDTF">2026-10-05T14:09:10Z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9b8a968-831d-4cfc-b1f9-4367a1331151_Enabled">
    <vt:lpwstr>true</vt:lpwstr>
  </property>
  <property fmtid="{D5CDD505-2E9C-101B-9397-08002B2CF9AE}" pid="3" name="MSIP_Label_99b8a968-831d-4cfc-b1f9-4367a1331151_SetDate">
    <vt:lpwstr>2024-05-04T19:05:14Z</vt:lpwstr>
  </property>
  <property fmtid="{D5CDD505-2E9C-101B-9397-08002B2CF9AE}" pid="4" name="MSIP_Label_99b8a968-831d-4cfc-b1f9-4367a1331151_Method">
    <vt:lpwstr>Privileged</vt:lpwstr>
  </property>
  <property fmtid="{D5CDD505-2E9C-101B-9397-08002B2CF9AE}" pid="5" name="MSIP_Label_99b8a968-831d-4cfc-b1f9-4367a1331151_Name">
    <vt:lpwstr>Confidential</vt:lpwstr>
  </property>
  <property fmtid="{D5CDD505-2E9C-101B-9397-08002B2CF9AE}" pid="6" name="MSIP_Label_99b8a968-831d-4cfc-b1f9-4367a1331151_SiteId">
    <vt:lpwstr>e6c7989d-a5fe-4b7b-a335-3288406db2fd</vt:lpwstr>
  </property>
  <property fmtid="{D5CDD505-2E9C-101B-9397-08002B2CF9AE}" pid="7" name="MSIP_Label_99b8a968-831d-4cfc-b1f9-4367a1331151_ActionId">
    <vt:lpwstr>66310290-fea6-40d2-83bd-c8b58c1b5aea</vt:lpwstr>
  </property>
  <property fmtid="{D5CDD505-2E9C-101B-9397-08002B2CF9AE}" pid="8" name="MSIP_Label_99b8a968-831d-4cfc-b1f9-4367a1331151_ContentBits">
    <vt:lpwstr>3</vt:lpwstr>
  </property>
</Properties>
</file>