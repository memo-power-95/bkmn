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sldIdLst>
    <p:sldId id="436" r:id="rId2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757" autoAdjust="0"/>
    <p:restoredTop sz="95332" autoAdjust="0"/>
  </p:normalViewPr>
  <p:slideViewPr>
    <p:cSldViewPr snapToGrid="0">
      <p:cViewPr varScale="1">
        <p:scale>
          <a:sx n="114" d="100"/>
          <a:sy n="114" d="100"/>
        </p:scale>
        <p:origin x="10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56EB0B-3736-454C-BDC9-CFE6B03A8AAF}" type="datetimeFigureOut">
              <a:rPr lang="ko-KR" altLang="en-US" smtClean="0"/>
              <a:t>2026-09-18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146203-DBE1-497C-BB2D-98327BF1F7A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89528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15264">
              <a:defRPr/>
            </a:pPr>
            <a:endParaRPr lang="en-US" altLang="ko-KR" dirty="0">
              <a:solidFill>
                <a:schemeClr val="tx1"/>
              </a:solidFill>
              <a:latin typeface="Arial Narrow" pitchFamily="34" charset="0"/>
              <a:ea typeface="가는둥근제목체" pitchFamily="18" charset="-127"/>
              <a:cs typeface="Times New Roman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443883B-7D6F-4E64-B93B-9457A9247E9C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832683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6958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5744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4"/>
          <p:cNvSpPr txBox="1">
            <a:spLocks noChangeArrowheads="1"/>
          </p:cNvSpPr>
          <p:nvPr userDrawn="1"/>
        </p:nvSpPr>
        <p:spPr bwMode="auto">
          <a:xfrm>
            <a:off x="100000" y="536107"/>
            <a:ext cx="800477" cy="166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eaLnBrk="1" fontAlgn="auto" hangingPunct="1">
              <a:spcAft>
                <a:spcPts val="0"/>
              </a:spcAft>
              <a:defRPr sz="2000">
                <a:solidFill>
                  <a:srgbClr val="000000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+mj-cs"/>
              </a:defRPr>
            </a:lvl1pPr>
            <a:lvl2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2pPr>
            <a:lvl3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3pPr>
            <a:lvl4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4pPr>
            <a:lvl5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>
              <a:lnSpc>
                <a:spcPct val="90000"/>
              </a:lnSpc>
            </a:pPr>
            <a:r>
              <a:rPr lang="ko-KR" altLang="en-US" sz="1200" b="1" u="none" spc="-30" dirty="0">
                <a:solidFill>
                  <a:schemeClr val="tx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☞</a:t>
            </a:r>
            <a:r>
              <a:rPr lang="ko-KR" altLang="en-US" sz="1200" b="1" u="none" spc="-30" dirty="0">
                <a:solidFill>
                  <a:schemeClr val="tx1"/>
                </a:solidFill>
              </a:rPr>
              <a:t> </a:t>
            </a:r>
            <a:r>
              <a:rPr lang="en-US" altLang="ko-KR" sz="1200" b="1" u="none" spc="-30" dirty="0">
                <a:solidFill>
                  <a:schemeClr val="tx1"/>
                </a:solidFill>
              </a:rPr>
              <a:t>Idea </a:t>
            </a:r>
            <a:r>
              <a:rPr lang="ko-KR" altLang="en-US" sz="1200" b="1" u="none" spc="-30" dirty="0">
                <a:solidFill>
                  <a:schemeClr val="tx1"/>
                </a:solidFill>
              </a:rPr>
              <a:t>발상</a:t>
            </a:r>
            <a:endParaRPr lang="en-US" altLang="ko-KR" sz="1800" b="1" u="none" spc="-30" dirty="0">
              <a:solidFill>
                <a:schemeClr val="tx1"/>
              </a:solidFill>
            </a:endParaRPr>
          </a:p>
        </p:txBody>
      </p:sp>
      <p:sp>
        <p:nvSpPr>
          <p:cNvPr id="8" name="Line 2">
            <a:extLst>
              <a:ext uri="{FF2B5EF4-FFF2-40B4-BE49-F238E27FC236}">
                <a16:creationId xmlns:a16="http://schemas.microsoft.com/office/drawing/2014/main" id="{012BBBE0-E98F-588B-E7C8-2FCC7B62B528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96013" y="507035"/>
            <a:ext cx="8957817" cy="1048"/>
          </a:xfrm>
          <a:prstGeom prst="line">
            <a:avLst/>
          </a:prstGeom>
          <a:noFill/>
          <a:ln w="9525">
            <a:solidFill>
              <a:schemeClr val="bg1">
                <a:lumMod val="50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sz="1200" dirty="0">
              <a:solidFill>
                <a:prstClr val="black"/>
              </a:solidFill>
              <a:latin typeface="Arial Narrow" panose="020B0606020202030204" pitchFamily="34" charset="0"/>
              <a:ea typeface="LG스마트체 Regular" panose="020B0600000101010101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06BEC9B-7510-3F9F-4052-5C6CCCB795F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845550" y="254538"/>
            <a:ext cx="924824" cy="269374"/>
          </a:xfrm>
          <a:prstGeom prst="rect">
            <a:avLst/>
          </a:prstGeom>
          <a:noFill/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8B8192F-9FA3-6243-E1A7-4CD2AC29FCAE}"/>
              </a:ext>
            </a:extLst>
          </p:cNvPr>
          <p:cNvSpPr txBox="1"/>
          <p:nvPr userDrawn="1"/>
        </p:nvSpPr>
        <p:spPr>
          <a:xfrm>
            <a:off x="7635488" y="322539"/>
            <a:ext cx="1143829" cy="195814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ko-KR" altLang="en-US" sz="800" spc="-40" baseline="0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</a:rPr>
              <a:t>○ 완료</a:t>
            </a:r>
            <a:r>
              <a:rPr lang="en-US" altLang="ko-KR" sz="800" spc="-40" baseline="0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</a:rPr>
              <a:t>, </a:t>
            </a:r>
            <a:r>
              <a:rPr lang="ko-KR" altLang="en-US" sz="800" spc="-40" baseline="0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Arial" panose="020B0604020202020204" pitchFamily="34" charset="0"/>
                <a:sym typeface="Wingdings" pitchFamily="2" charset="2"/>
              </a:rPr>
              <a:t>△ 진행 중</a:t>
            </a:r>
            <a:r>
              <a:rPr lang="en-US" altLang="ko-KR" sz="800" spc="-40" baseline="0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Arial" panose="020B0604020202020204" pitchFamily="34" charset="0"/>
                <a:sym typeface="Wingdings" pitchFamily="2" charset="2"/>
              </a:rPr>
              <a:t>, X </a:t>
            </a:r>
            <a:r>
              <a:rPr lang="ko-KR" altLang="en-US" sz="800" spc="-40" baseline="0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Arial" panose="020B0604020202020204" pitchFamily="34" charset="0"/>
                <a:sym typeface="Wingdings" pitchFamily="2" charset="2"/>
              </a:rPr>
              <a:t>불필요</a:t>
            </a:r>
            <a:endParaRPr lang="ko-KR" altLang="en-US" sz="800" spc="-40" baseline="0" dirty="0">
              <a:solidFill>
                <a:prstClr val="black">
                  <a:lumMod val="65000"/>
                  <a:lumOff val="35000"/>
                </a:prstClr>
              </a:solidFill>
              <a:latin typeface="Arial Narrow" panose="020B0606020202030204" pitchFamily="34" charset="0"/>
              <a:ea typeface="LG스마트체 Regular" panose="020B0600000101010101" pitchFamily="50" charset="-127"/>
            </a:endParaRPr>
          </a:p>
        </p:txBody>
      </p:sp>
      <p:sp>
        <p:nvSpPr>
          <p:cNvPr id="4" name="MSIPCMContentMarking" descr="{&quot;HashCode&quot;:1951497329,&quot;Placement&quot;:&quot;Footer&quot;,&quot;Top&quot;:521.91,&quot;Left&quot;:0.0,&quot;SlideWidth&quot;:780,&quot;SlideHeight&quot;:540}">
            <a:extLst>
              <a:ext uri="{FF2B5EF4-FFF2-40B4-BE49-F238E27FC236}">
                <a16:creationId xmlns:a16="http://schemas.microsoft.com/office/drawing/2014/main" id="{12AAB368-A7C1-43AE-BFC6-ABE9638B5267}"/>
              </a:ext>
            </a:extLst>
          </p:cNvPr>
          <p:cNvSpPr txBox="1"/>
          <p:nvPr userDrawn="1"/>
        </p:nvSpPr>
        <p:spPr>
          <a:xfrm>
            <a:off x="0" y="6628257"/>
            <a:ext cx="4632731" cy="229743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altLang="ko-KR" sz="900">
                <a:solidFill>
                  <a:srgbClr val="808080"/>
                </a:solidFill>
                <a:latin typeface="LG스마트체 SemiBold" panose="020B0600000101010101" pitchFamily="50" charset="-127"/>
              </a:rPr>
              <a:t>LG Innotek Confidential : This document is protected by security policies and laws.</a:t>
            </a:r>
            <a:endParaRPr lang="ko-KR" altLang="en-US" sz="900">
              <a:solidFill>
                <a:srgbClr val="808080"/>
              </a:solidFill>
              <a:latin typeface="LG스마트체 SemiBold" panose="020B0600000101010101" pitchFamily="50" charset="-127"/>
            </a:endParaRPr>
          </a:p>
        </p:txBody>
      </p:sp>
      <p:sp>
        <p:nvSpPr>
          <p:cNvPr id="5" name="MSIPCMContentMarking" descr="{&quot;HashCode&quot;:166943725,&quot;Placement&quot;:&quot;Header&quot;,&quot;Top&quot;:0.0,&quot;Left&quot;:685.0934,&quot;SlideWidth&quot;:780,&quot;SlideHeight&quot;:540}">
            <a:extLst>
              <a:ext uri="{FF2B5EF4-FFF2-40B4-BE49-F238E27FC236}">
                <a16:creationId xmlns:a16="http://schemas.microsoft.com/office/drawing/2014/main" id="{1C6DA701-D2FC-45C4-96C0-A0240BD62C56}"/>
              </a:ext>
            </a:extLst>
          </p:cNvPr>
          <p:cNvSpPr txBox="1"/>
          <p:nvPr userDrawn="1"/>
        </p:nvSpPr>
        <p:spPr>
          <a:xfrm>
            <a:off x="8700686" y="0"/>
            <a:ext cx="1205314" cy="260477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altLang="ko-KR" sz="1100">
                <a:solidFill>
                  <a:srgbClr val="C0004B"/>
                </a:solidFill>
                <a:latin typeface="LG스마트체2.0 Bold" panose="020B0600000101010101" pitchFamily="50" charset="-127"/>
              </a:rPr>
              <a:t>[Confidential]</a:t>
            </a:r>
            <a:endParaRPr lang="ko-KR" altLang="en-US" sz="1100">
              <a:solidFill>
                <a:srgbClr val="C0004B"/>
              </a:solidFill>
              <a:latin typeface="LG스마트체2.0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292106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B4C45B1D-E888-4864-B011-5E6CCF1F7936}"/>
              </a:ext>
            </a:extLst>
          </p:cNvPr>
          <p:cNvGrpSpPr/>
          <p:nvPr/>
        </p:nvGrpSpPr>
        <p:grpSpPr>
          <a:xfrm>
            <a:off x="7091806" y="1855036"/>
            <a:ext cx="2728470" cy="4813582"/>
            <a:chOff x="7091806" y="1808152"/>
            <a:chExt cx="2609448" cy="4813582"/>
          </a:xfrm>
        </p:grpSpPr>
        <p:sp>
          <p:nvSpPr>
            <p:cNvPr id="56" name="AutoShape 20"/>
            <p:cNvSpPr>
              <a:spLocks noChangeArrowheads="1"/>
            </p:cNvSpPr>
            <p:nvPr/>
          </p:nvSpPr>
          <p:spPr bwMode="auto">
            <a:xfrm>
              <a:off x="7091806" y="2013357"/>
              <a:ext cx="2609448" cy="4608377"/>
            </a:xfrm>
            <a:prstGeom prst="roundRect">
              <a:avLst>
                <a:gd name="adj" fmla="val 2403"/>
              </a:avLst>
            </a:prstGeom>
            <a:solidFill>
              <a:schemeClr val="bg1"/>
            </a:solidFill>
            <a:ln w="12700" algn="ctr">
              <a:solidFill>
                <a:schemeClr val="bg1">
                  <a:lumMod val="75000"/>
                </a:schemeClr>
              </a:solidFill>
              <a:round/>
              <a:headEnd/>
              <a:tailEnd/>
            </a:ln>
            <a:effectLst/>
          </p:spPr>
          <p:txBody>
            <a:bodyPr wrap="none" lIns="91429" tIns="45715" rIns="91429" bIns="45715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</a:endParaRPr>
            </a:p>
          </p:txBody>
        </p:sp>
        <p:sp>
          <p:nvSpPr>
            <p:cNvPr id="55" name="AutoShape 20"/>
            <p:cNvSpPr>
              <a:spLocks noChangeArrowheads="1"/>
            </p:cNvSpPr>
            <p:nvPr/>
          </p:nvSpPr>
          <p:spPr bwMode="auto">
            <a:xfrm>
              <a:off x="7091806" y="1808152"/>
              <a:ext cx="2609448" cy="294484"/>
            </a:xfrm>
            <a:prstGeom prst="roundRect">
              <a:avLst>
                <a:gd name="adj" fmla="val 10700"/>
              </a:avLst>
            </a:prstGeom>
            <a:solidFill>
              <a:schemeClr val="bg1">
                <a:lumMod val="85000"/>
              </a:schemeClr>
            </a:solidFill>
            <a:ln w="12700" algn="ctr">
              <a:solidFill>
                <a:schemeClr val="bg1">
                  <a:lumMod val="75000"/>
                </a:schemeClr>
              </a:solidFill>
              <a:round/>
              <a:headEnd/>
              <a:tailEnd/>
            </a:ln>
            <a:effectLst/>
          </p:spPr>
          <p:txBody>
            <a:bodyPr wrap="none" lIns="91429" tIns="45715" rIns="91429" bIns="45715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419" altLang="ko-KR" sz="1400" b="1" kern="0" dirty="0">
                  <a:solidFill>
                    <a:sysClr val="windowText" lastClr="000000"/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</a:rPr>
                <a:t>After </a:t>
              </a:r>
              <a:r>
                <a:rPr lang="es-419" altLang="ko-KR" sz="1400" b="1" kern="0" dirty="0" err="1">
                  <a:solidFill>
                    <a:sysClr val="windowText" lastClr="000000"/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</a:rPr>
                <a:t>improvement</a:t>
              </a:r>
              <a:endParaRPr kumimoji="0" lang="en-US" altLang="ko-KR" sz="1400" b="1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C70F6EBB-F0F3-4470-A73A-8A760F7D4373}"/>
              </a:ext>
            </a:extLst>
          </p:cNvPr>
          <p:cNvGrpSpPr/>
          <p:nvPr/>
        </p:nvGrpSpPr>
        <p:grpSpPr>
          <a:xfrm>
            <a:off x="3203374" y="1855036"/>
            <a:ext cx="3816424" cy="4814324"/>
            <a:chOff x="3203374" y="1807410"/>
            <a:chExt cx="3816424" cy="4814324"/>
          </a:xfrm>
        </p:grpSpPr>
        <p:sp>
          <p:nvSpPr>
            <p:cNvPr id="66" name="AutoShape 20"/>
            <p:cNvSpPr>
              <a:spLocks noChangeArrowheads="1"/>
            </p:cNvSpPr>
            <p:nvPr/>
          </p:nvSpPr>
          <p:spPr bwMode="auto">
            <a:xfrm>
              <a:off x="3203374" y="2013358"/>
              <a:ext cx="3816424" cy="4608376"/>
            </a:xfrm>
            <a:prstGeom prst="roundRect">
              <a:avLst>
                <a:gd name="adj" fmla="val 2403"/>
              </a:avLst>
            </a:prstGeom>
            <a:solidFill>
              <a:schemeClr val="bg1"/>
            </a:solidFill>
            <a:ln w="12700" algn="ctr">
              <a:solidFill>
                <a:schemeClr val="bg1">
                  <a:lumMod val="75000"/>
                </a:schemeClr>
              </a:solidFill>
              <a:round/>
              <a:headEnd/>
              <a:tailEnd/>
            </a:ln>
            <a:effectLst/>
          </p:spPr>
          <p:txBody>
            <a:bodyPr wrap="none" lIns="91429" tIns="45715" rIns="91429" bIns="45715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</a:endParaRPr>
            </a:p>
          </p:txBody>
        </p:sp>
        <p:sp>
          <p:nvSpPr>
            <p:cNvPr id="65" name="AutoShape 20"/>
            <p:cNvSpPr>
              <a:spLocks noChangeArrowheads="1"/>
            </p:cNvSpPr>
            <p:nvPr/>
          </p:nvSpPr>
          <p:spPr bwMode="auto">
            <a:xfrm>
              <a:off x="3203374" y="1807410"/>
              <a:ext cx="3816424" cy="291459"/>
            </a:xfrm>
            <a:prstGeom prst="roundRect">
              <a:avLst>
                <a:gd name="adj" fmla="val 10700"/>
              </a:avLst>
            </a:prstGeom>
            <a:solidFill>
              <a:schemeClr val="bg1">
                <a:lumMod val="85000"/>
              </a:schemeClr>
            </a:solidFill>
            <a:ln w="12700" algn="ctr">
              <a:solidFill>
                <a:schemeClr val="bg1">
                  <a:lumMod val="75000"/>
                </a:schemeClr>
              </a:solidFill>
              <a:round/>
              <a:headEnd/>
              <a:tailEnd/>
            </a:ln>
            <a:effectLst/>
          </p:spPr>
          <p:txBody>
            <a:bodyPr wrap="none" lIns="91429" tIns="45715" rIns="91429" bIns="45715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itchFamily="34" charset="0"/>
                </a:rPr>
                <a:t>Breakthrough</a:t>
              </a:r>
              <a:endPara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itchFamily="34" charset="0"/>
              </a:endParaRPr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AD6F9705-D935-4A94-8CF5-843F594B71F8}"/>
              </a:ext>
            </a:extLst>
          </p:cNvPr>
          <p:cNvGrpSpPr/>
          <p:nvPr/>
        </p:nvGrpSpPr>
        <p:grpSpPr>
          <a:xfrm>
            <a:off x="118050" y="1817277"/>
            <a:ext cx="3047476" cy="4813582"/>
            <a:chOff x="161878" y="1808152"/>
            <a:chExt cx="2969488" cy="4813582"/>
          </a:xfrm>
        </p:grpSpPr>
        <p:sp>
          <p:nvSpPr>
            <p:cNvPr id="44" name="AutoShape 20"/>
            <p:cNvSpPr>
              <a:spLocks noChangeArrowheads="1"/>
            </p:cNvSpPr>
            <p:nvPr/>
          </p:nvSpPr>
          <p:spPr bwMode="auto">
            <a:xfrm>
              <a:off x="161878" y="2013358"/>
              <a:ext cx="2969488" cy="4608376"/>
            </a:xfrm>
            <a:prstGeom prst="roundRect">
              <a:avLst>
                <a:gd name="adj" fmla="val 2403"/>
              </a:avLst>
            </a:prstGeom>
            <a:solidFill>
              <a:schemeClr val="bg1"/>
            </a:solidFill>
            <a:ln w="12700" algn="ctr">
              <a:solidFill>
                <a:schemeClr val="bg1">
                  <a:lumMod val="75000"/>
                </a:schemeClr>
              </a:solidFill>
              <a:round/>
              <a:headEnd/>
              <a:tailEnd/>
            </a:ln>
            <a:effectLst/>
          </p:spPr>
          <p:txBody>
            <a:bodyPr wrap="none" lIns="91429" tIns="45715" rIns="91429" bIns="45715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</a:endParaRPr>
            </a:p>
          </p:txBody>
        </p:sp>
        <p:sp>
          <p:nvSpPr>
            <p:cNvPr id="43" name="AutoShape 20"/>
            <p:cNvSpPr>
              <a:spLocks noChangeArrowheads="1"/>
            </p:cNvSpPr>
            <p:nvPr/>
          </p:nvSpPr>
          <p:spPr bwMode="auto">
            <a:xfrm>
              <a:off x="161878" y="1808152"/>
              <a:ext cx="2969488" cy="294484"/>
            </a:xfrm>
            <a:prstGeom prst="roundRect">
              <a:avLst>
                <a:gd name="adj" fmla="val 10700"/>
              </a:avLst>
            </a:prstGeom>
            <a:solidFill>
              <a:schemeClr val="bg1">
                <a:lumMod val="85000"/>
              </a:schemeClr>
            </a:solidFill>
            <a:ln w="12700" algn="ctr">
              <a:solidFill>
                <a:schemeClr val="bg1">
                  <a:lumMod val="75000"/>
                </a:schemeClr>
              </a:solidFill>
              <a:round/>
              <a:headEnd/>
              <a:tailEnd/>
            </a:ln>
            <a:effectLst/>
          </p:spPr>
          <p:txBody>
            <a:bodyPr wrap="none" lIns="91429" tIns="45715" rIns="91429" bIns="45715" anchor="ctr"/>
            <a:lstStyle/>
            <a:p>
              <a:pPr algn="ctr" latinLnBrk="0">
                <a:defRPr/>
              </a:pPr>
              <a:r>
                <a:rPr lang="es-MX" altLang="ko-KR" sz="1400" b="1" kern="0" dirty="0" err="1">
                  <a:solidFill>
                    <a:sysClr val="windowText" lastClr="000000"/>
                  </a:solidFill>
                  <a:latin typeface="Arial Narrow" panose="020B0606020202030204" pitchFamily="34" charset="0"/>
                  <a:ea typeface="LG스마트체 Regular" pitchFamily="50" charset="-127"/>
                </a:rPr>
                <a:t>Before</a:t>
              </a:r>
              <a:r>
                <a:rPr lang="es-MX" altLang="ko-KR" sz="1400" b="1" kern="0" dirty="0">
                  <a:solidFill>
                    <a:sysClr val="windowText" lastClr="000000"/>
                  </a:solidFill>
                  <a:latin typeface="Arial Narrow" panose="020B0606020202030204" pitchFamily="34" charset="0"/>
                  <a:ea typeface="LG스마트체 Regular" pitchFamily="50" charset="-127"/>
                </a:rPr>
                <a:t> </a:t>
              </a:r>
              <a:r>
                <a:rPr lang="es-MX" altLang="ko-KR" sz="1400" b="1" kern="0" dirty="0" err="1">
                  <a:solidFill>
                    <a:sysClr val="windowText" lastClr="000000"/>
                  </a:solidFill>
                  <a:latin typeface="Arial Narrow" panose="020B0606020202030204" pitchFamily="34" charset="0"/>
                  <a:ea typeface="LG스마트체 Regular" pitchFamily="50" charset="-127"/>
                </a:rPr>
                <a:t>improvement</a:t>
              </a:r>
              <a:endParaRPr lang="ko-KR" altLang="en-US" sz="1400" b="1" kern="0" dirty="0">
                <a:solidFill>
                  <a:sysClr val="windowText" lastClr="000000"/>
                </a:solidFill>
                <a:latin typeface="Arial Narrow" panose="020B0606020202030204" pitchFamily="34" charset="0"/>
                <a:ea typeface="LG스마트체 Regular" pitchFamily="50" charset="-127"/>
              </a:endParaRPr>
            </a:p>
          </p:txBody>
        </p:sp>
      </p:grpSp>
      <p:sp>
        <p:nvSpPr>
          <p:cNvPr id="40" name="Rectangle 4"/>
          <p:cNvSpPr txBox="1">
            <a:spLocks noChangeArrowheads="1"/>
          </p:cNvSpPr>
          <p:nvPr/>
        </p:nvSpPr>
        <p:spPr bwMode="auto">
          <a:xfrm>
            <a:off x="54755" y="102355"/>
            <a:ext cx="7105346" cy="276999"/>
          </a:xfrm>
          <a:prstGeom prst="rect">
            <a:avLst/>
          </a:prstGeom>
          <a:noFill/>
        </p:spPr>
        <p:txBody>
          <a:bodyPr wrap="square" lIns="72000" tIns="0" rIns="36000" bIns="0">
            <a:spAutoFit/>
          </a:bodyPr>
          <a:lstStyle>
            <a:defPPr>
              <a:defRPr lang="ko-KR"/>
            </a:defPPr>
            <a:lvl1pPr eaLnBrk="1" fontAlgn="auto" hangingPunct="1">
              <a:spcAft>
                <a:spcPts val="0"/>
              </a:spcAft>
              <a:defRPr sz="2000">
                <a:solidFill>
                  <a:srgbClr val="000000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+mj-cs"/>
              </a:defRPr>
            </a:lvl1pPr>
            <a:lvl2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2pPr>
            <a:lvl3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3pPr>
            <a:lvl4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4pPr>
            <a:lvl5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lvl="0" defTabSz="914400" latinLnBrk="1">
              <a:defRPr/>
            </a:pPr>
            <a:r>
              <a:rPr lang="en-US" altLang="ko-KR" sz="1800" b="1" spc="-30" dirty="0" smtClean="0">
                <a:solidFill>
                  <a:prstClr val="black"/>
                </a:solidFill>
                <a:latin typeface="LG스마트체 Regular" panose="020B0600000101010101" pitchFamily="50" charset="-127"/>
              </a:rPr>
              <a:t>Module list ordered by number on the Lot screen</a:t>
            </a:r>
            <a:endParaRPr kumimoji="0" lang="ko-KR" altLang="en-US" sz="1800" b="1" i="0" u="none" strike="noStrike" kern="1200" cap="none" spc="-3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G스마트체 Regular" panose="020B0600000101010101" pitchFamily="50" charset="-127"/>
            </a:endParaRPr>
          </a:p>
        </p:txBody>
      </p:sp>
      <p:sp>
        <p:nvSpPr>
          <p:cNvPr id="73" name="직사각형 72"/>
          <p:cNvSpPr/>
          <p:nvPr/>
        </p:nvSpPr>
        <p:spPr>
          <a:xfrm>
            <a:off x="117817" y="1169205"/>
            <a:ext cx="8653040" cy="648072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defTabSz="914400" latinLnBrk="1">
              <a:lnSpc>
                <a:spcPct val="110000"/>
              </a:lnSpc>
              <a:defRPr/>
            </a:pPr>
            <a:r>
              <a:rPr lang="en-US" altLang="ko-KR" sz="1600" dirty="0" smtClean="0">
                <a:solidFill>
                  <a:schemeClr val="tx1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Install PCB - model selection at changeover</a:t>
            </a:r>
            <a:endParaRPr kumimoji="0" lang="en-US" altLang="ko-KR" sz="1600" b="1" i="0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</p:txBody>
      </p:sp>
      <p:sp>
        <p:nvSpPr>
          <p:cNvPr id="26" name="Text Box 22">
            <a:extLst>
              <a:ext uri="{FF2B5EF4-FFF2-40B4-BE49-F238E27FC236}">
                <a16:creationId xmlns:a16="http://schemas.microsoft.com/office/drawing/2014/main" id="{0A503ADC-8EA4-4A95-9C09-007B0C087C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623" y="2168612"/>
            <a:ext cx="2193527" cy="2362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0" rIns="90000" bIns="0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 </a:t>
            </a:r>
            <a:r>
              <a:rPr kumimoji="1" lang="es-419" altLang="ko-KR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PHENOMENON</a:t>
            </a:r>
            <a:endParaRPr kumimoji="1" lang="en-US" altLang="ko-KR" sz="13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G스마트체 Regular" panose="020B0600000101010101" pitchFamily="50" charset="-127"/>
              <a:ea typeface="LG스마트체 Regular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37" name="Text Box 22">
            <a:extLst>
              <a:ext uri="{FF2B5EF4-FFF2-40B4-BE49-F238E27FC236}">
                <a16:creationId xmlns:a16="http://schemas.microsoft.com/office/drawing/2014/main" id="{73F804E7-6ED1-4161-8C22-4CB1C70ED8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07354" y="2168612"/>
            <a:ext cx="3355704" cy="2362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0" rIns="90000" bIns="0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s-419" altLang="ko-KR" sz="1300" b="1" i="0" u="none" strike="noStrike" kern="1200" cap="none" spc="-5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IMPROVEMENTS</a:t>
            </a:r>
            <a:endParaRPr kumimoji="1" lang="ko-KR" altLang="en-US" sz="1300" b="1" i="0" u="none" strike="noStrike" kern="1200" cap="none" spc="-5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LG스마트체 Regular" panose="020B0600000101010101" pitchFamily="50" charset="-127"/>
              <a:ea typeface="LG스마트체 Regular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47" name="Text Box 22">
            <a:extLst>
              <a:ext uri="{FF2B5EF4-FFF2-40B4-BE49-F238E27FC236}">
                <a16:creationId xmlns:a16="http://schemas.microsoft.com/office/drawing/2014/main" id="{018B34FB-86FD-426E-BD3D-63EF790322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6588" y="2433268"/>
            <a:ext cx="3136204" cy="7716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marL="171450" indent="-171450" defTabSz="914400" latinLnBrk="1">
              <a:buFontTx/>
              <a:buChar char="-"/>
              <a:defRPr/>
            </a:pPr>
            <a:r>
              <a:rPr kumimoji="0" lang="en-US" altLang="ko-KR" sz="1100" dirty="0"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The module list showed more than 70 entries with no order, so at every changeover the operator had to scroll through the whole list looking for the model.</a:t>
            </a:r>
          </a:p>
        </p:txBody>
      </p:sp>
      <p:sp>
        <p:nvSpPr>
          <p:cNvPr id="100" name="Text Box 22">
            <a:extLst>
              <a:ext uri="{FF2B5EF4-FFF2-40B4-BE49-F238E27FC236}">
                <a16:creationId xmlns:a16="http://schemas.microsoft.com/office/drawing/2014/main" id="{281CC93F-E659-4A34-B26F-E7FDC768FB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71374" y="2286753"/>
            <a:ext cx="2744430" cy="13256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>
            <a:spAutoFit/>
          </a:bodyPr>
          <a:lstStyle>
            <a:defPPr>
              <a:defRPr lang="en-US"/>
            </a:defPPr>
            <a:lvl1pPr algn="just" eaLnBrk="0" hangingPunct="0">
              <a:defRPr kumimoji="1" sz="110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defRPr>
            </a:lvl1pPr>
            <a:lvl2pPr marL="742950" indent="-285750" eaLnBrk="0" hangingPunct="0">
              <a:defRPr kumimoji="1"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9pPr>
          </a:lstStyle>
          <a:p>
            <a:r>
              <a:rPr lang="ko-KR" altLang="es-MX" sz="1400" b="1" dirty="0"/>
              <a:t> </a:t>
            </a:r>
            <a:r>
              <a:rPr lang="es-419" altLang="ko-KR" sz="1400" b="1" dirty="0" smtClean="0"/>
              <a:t>EFFECT:</a:t>
            </a:r>
            <a:endParaRPr lang="es-419" altLang="ko-KR" sz="14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dirty="0"/>
              <a:t>Model selection at changeover is now immediate and predictable, with no scrolling through unordered entries.</a:t>
            </a:r>
            <a:endParaRPr lang="ko-KR" altLang="en-US" dirty="0"/>
          </a:p>
        </p:txBody>
      </p:sp>
      <p:graphicFrame>
        <p:nvGraphicFramePr>
          <p:cNvPr id="104" name="표 103">
            <a:extLst>
              <a:ext uri="{FF2B5EF4-FFF2-40B4-BE49-F238E27FC236}">
                <a16:creationId xmlns:a16="http://schemas.microsoft.com/office/drawing/2014/main" id="{7217E0C3-3242-462A-86FE-317BCFA54321}"/>
              </a:ext>
            </a:extLst>
          </p:cNvPr>
          <p:cNvGraphicFramePr>
            <a:graphicFrameLocks noGrp="1"/>
          </p:cNvGraphicFramePr>
          <p:nvPr/>
        </p:nvGraphicFramePr>
        <p:xfrm>
          <a:off x="8802980" y="1466757"/>
          <a:ext cx="1012824" cy="350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376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76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76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8192">
                <a:tc grid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700" b="1" kern="900" spc="0" baseline="0" dirty="0">
                          <a:solidFill>
                            <a:srgbClr val="0000FF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DX Level</a:t>
                      </a:r>
                      <a:r>
                        <a:rPr lang="ko-KR" altLang="en-US" sz="700" b="1" kern="900" spc="0" baseline="0" dirty="0">
                          <a:solidFill>
                            <a:srgbClr val="0000FF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 구분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b="1" kern="900" spc="-100" baseline="0" dirty="0"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b="1" kern="900" spc="-100" baseline="0" dirty="0"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442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1" i="0" u="none" strike="noStrike" spc="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A2D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정보화</a:t>
                      </a:r>
                      <a:endParaRPr kumimoji="0" lang="en-US" altLang="ko-KR" sz="7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지능화</a:t>
                      </a:r>
                      <a:endParaRPr kumimoji="0" lang="en-US" altLang="ko-KR" sz="7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8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05" name="표 104">
            <a:extLst>
              <a:ext uri="{FF2B5EF4-FFF2-40B4-BE49-F238E27FC236}">
                <a16:creationId xmlns:a16="http://schemas.microsoft.com/office/drawing/2014/main" id="{275A48A6-063A-4695-8225-5094514F8224}"/>
              </a:ext>
            </a:extLst>
          </p:cNvPr>
          <p:cNvGraphicFramePr>
            <a:graphicFrameLocks noGrp="1"/>
          </p:cNvGraphicFramePr>
          <p:nvPr/>
        </p:nvGraphicFramePr>
        <p:xfrm>
          <a:off x="8807451" y="560208"/>
          <a:ext cx="1012827" cy="9506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317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05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856">
                <a:tc>
                  <a:txBody>
                    <a:bodyPr/>
                    <a:lstStyle/>
                    <a:p>
                      <a:pPr algn="ctr" latinLnBrk="1">
                        <a:lnSpc>
                          <a:spcPct val="80000"/>
                        </a:lnSpc>
                      </a:pPr>
                      <a:r>
                        <a:rPr lang="ko-KR" altLang="en-US" sz="700" b="1" kern="900" spc="0" baseline="0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개선 영역</a:t>
                      </a:r>
                      <a:endParaRPr lang="en-US" altLang="ko-KR" sz="700" b="1" kern="900" spc="0" baseline="0" dirty="0">
                        <a:solidFill>
                          <a:schemeClr val="tx1"/>
                        </a:solidFill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1800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80000"/>
                        </a:lnSpc>
                      </a:pPr>
                      <a:r>
                        <a:rPr lang="en-US" altLang="ko-KR" sz="700" b="1" kern="900" spc="-30" baseline="0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Analog</a:t>
                      </a:r>
                      <a:br>
                        <a:rPr lang="en-US" altLang="ko-KR" sz="700" b="1" kern="900" spc="-30" baseline="0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</a:br>
                      <a:r>
                        <a:rPr lang="en-US" altLang="ko-KR" sz="700" b="1" kern="900" spc="-30" baseline="0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BP</a:t>
                      </a:r>
                      <a:endParaRPr lang="ko-KR" altLang="en-US" sz="700" b="1" kern="900" spc="-30" baseline="0" dirty="0">
                        <a:solidFill>
                          <a:schemeClr val="tx1"/>
                        </a:solidFill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18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80000"/>
                        </a:lnSpc>
                      </a:pPr>
                      <a:r>
                        <a:rPr lang="en-US" altLang="ko-KR" sz="700" b="1" kern="900" spc="-30" baseline="0" dirty="0">
                          <a:solidFill>
                            <a:srgbClr val="0000FF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DX</a:t>
                      </a:r>
                      <a:br>
                        <a:rPr lang="en-US" altLang="ko-KR" sz="700" b="1" kern="900" spc="-30" baseline="0" dirty="0">
                          <a:solidFill>
                            <a:srgbClr val="0000FF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</a:br>
                      <a:r>
                        <a:rPr lang="en-US" altLang="ko-KR" sz="700" b="1" kern="900" spc="-30" baseline="0" dirty="0">
                          <a:solidFill>
                            <a:srgbClr val="0000FF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BP</a:t>
                      </a:r>
                      <a:endParaRPr lang="ko-KR" altLang="en-US" sz="700" b="1" kern="900" spc="-30" baseline="0" dirty="0">
                        <a:solidFill>
                          <a:srgbClr val="0000FF"/>
                        </a:solidFill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1800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83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u="none" strike="noStrike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이물</a:t>
                      </a:r>
                      <a:r>
                        <a:rPr lang="en-US" altLang="ko-KR" sz="700" b="1" i="0" u="none" strike="noStrike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/</a:t>
                      </a:r>
                      <a:r>
                        <a:rPr lang="ko-KR" altLang="en-US" sz="700" b="1" i="0" u="none" strike="noStrike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생산성</a:t>
                      </a:r>
                      <a:endParaRPr lang="en-US" altLang="ko-KR" sz="700" b="1" i="0" u="none" strike="noStrike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83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u="none" strike="noStrike" spc="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성능</a:t>
                      </a:r>
                      <a:r>
                        <a:rPr lang="en-US" altLang="ko-KR" sz="700" b="1" i="0" u="none" strike="noStrike" spc="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/</a:t>
                      </a:r>
                      <a:r>
                        <a:rPr lang="ko-KR" altLang="en-US" sz="700" b="1" i="0" u="none" strike="noStrike" spc="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품질</a:t>
                      </a:r>
                      <a:endParaRPr lang="en-US" altLang="ko-KR" sz="700" b="1" i="0" u="none" strike="noStrike" spc="0" baseline="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○</a:t>
                      </a: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883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u="none" strike="noStrike" spc="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프로세스</a:t>
                      </a:r>
                      <a:endParaRPr lang="en-US" altLang="ko-KR" sz="700" b="1" i="0" u="none" strike="noStrike" spc="0" baseline="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883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u="none" strike="noStrike" spc="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안전환경</a:t>
                      </a:r>
                      <a:endParaRPr lang="en-US" altLang="ko-KR" sz="700" b="1" i="0" u="none" strike="noStrike" spc="0" baseline="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883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u="none" strike="noStrike" spc="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고객가치</a:t>
                      </a:r>
                      <a:endParaRPr lang="en-US" altLang="ko-KR" sz="700" b="1" i="0" u="none" strike="noStrike" spc="0" baseline="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1280698"/>
                  </a:ext>
                </a:extLst>
              </a:tr>
            </a:tbl>
          </a:graphicData>
        </a:graphic>
      </p:graphicFrame>
      <p:graphicFrame>
        <p:nvGraphicFramePr>
          <p:cNvPr id="106" name="표 105">
            <a:extLst>
              <a:ext uri="{FF2B5EF4-FFF2-40B4-BE49-F238E27FC236}">
                <a16:creationId xmlns:a16="http://schemas.microsoft.com/office/drawing/2014/main" id="{01739F50-273D-88B9-0185-931B6BCAB9B7}"/>
              </a:ext>
            </a:extLst>
          </p:cNvPr>
          <p:cNvGraphicFramePr>
            <a:graphicFrameLocks noGrp="1"/>
          </p:cNvGraphicFramePr>
          <p:nvPr/>
        </p:nvGraphicFramePr>
        <p:xfrm>
          <a:off x="7090565" y="28296"/>
          <a:ext cx="1658127" cy="259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21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4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4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94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94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942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942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algn="l" latinLnBrk="1"/>
                      <a:r>
                        <a:rPr lang="ko-KR" altLang="en-US" sz="800" b="1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전파</a:t>
                      </a:r>
                      <a:endParaRPr lang="en-US" altLang="ko-KR" sz="800" b="1" spc="-100" baseline="0" dirty="0"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kern="900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광학 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kern="900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기판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kern="900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전장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kern="900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CTO</a:t>
                      </a:r>
                      <a:endParaRPr lang="ko-KR" altLang="en-US" sz="800" b="1" kern="900" spc="-100" baseline="0" dirty="0"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kern="900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전자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kern="900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생기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kern="900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품질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u="none" strike="noStrike" spc="-100" baseline="0" dirty="0">
                          <a:solidFill>
                            <a:srgbClr val="000000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○</a:t>
                      </a:r>
                      <a:endParaRPr lang="en-US" altLang="ko-KR" sz="900" b="0" i="0" u="none" strike="noStrike" spc="-100" baseline="0" dirty="0">
                        <a:solidFill>
                          <a:srgbClr val="000000"/>
                        </a:solidFill>
                        <a:effectLst/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△</a:t>
                      </a:r>
                      <a:endParaRPr kumimoji="0" lang="en-US" altLang="ko-KR" sz="9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△</a:t>
                      </a:r>
                      <a:endParaRPr kumimoji="0" lang="en-US" altLang="ko-KR" sz="9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△</a:t>
                      </a:r>
                      <a:endParaRPr kumimoji="0" lang="en-US" altLang="ko-KR" sz="9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△</a:t>
                      </a:r>
                      <a:endParaRPr kumimoji="0" lang="en-US" altLang="ko-KR" sz="9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X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X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8" name="Text Box 22">
            <a:extLst>
              <a:ext uri="{FF2B5EF4-FFF2-40B4-BE49-F238E27FC236}">
                <a16:creationId xmlns:a16="http://schemas.microsoft.com/office/drawing/2014/main" id="{4943835B-8DA4-4869-8C18-DA8250B684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0857" y="4444213"/>
            <a:ext cx="2193527" cy="2362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0" rIns="90000" bIns="0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 </a:t>
            </a:r>
            <a:r>
              <a:rPr kumimoji="1" lang="es-419" altLang="ko-KR" sz="13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PROBLEM</a:t>
            </a:r>
            <a:endParaRPr kumimoji="1" lang="en-US" altLang="ko-KR" sz="13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G스마트체 Regular" panose="020B0600000101010101" pitchFamily="50" charset="-127"/>
              <a:ea typeface="LG스마트체 Regular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F114F125-DEDC-4A5E-83D0-32A8D040BE99}"/>
              </a:ext>
            </a:extLst>
          </p:cNvPr>
          <p:cNvSpPr/>
          <p:nvPr/>
        </p:nvSpPr>
        <p:spPr>
          <a:xfrm>
            <a:off x="8543390" y="3093457"/>
            <a:ext cx="600604" cy="406647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1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</p:txBody>
      </p:sp>
      <p:sp>
        <p:nvSpPr>
          <p:cNvPr id="63" name="Text Box 22">
            <a:extLst>
              <a:ext uri="{FF2B5EF4-FFF2-40B4-BE49-F238E27FC236}">
                <a16:creationId xmlns:a16="http://schemas.microsoft.com/office/drawing/2014/main" id="{8287475F-9343-43DB-A22C-AE7C32D6CF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29853" y="2469063"/>
            <a:ext cx="3613965" cy="6023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just">
              <a:defRPr/>
            </a:pPr>
            <a:r>
              <a:rPr lang="en-US" altLang="ko-KR" sz="11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  <a:sym typeface="Wingdings" pitchFamily="2" charset="2"/>
              </a:rPr>
              <a:t>The module list is now ordered by number, so the operator finds the model directly.</a:t>
            </a:r>
          </a:p>
        </p:txBody>
      </p:sp>
      <p:sp>
        <p:nvSpPr>
          <p:cNvPr id="46" name="Text Box 22">
            <a:extLst>
              <a:ext uri="{FF2B5EF4-FFF2-40B4-BE49-F238E27FC236}">
                <a16:creationId xmlns:a16="http://schemas.microsoft.com/office/drawing/2014/main" id="{FDA1CAA0-6C50-4F01-AABF-43A416B503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6588" y="4753587"/>
            <a:ext cx="3136204" cy="14487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defTabSz="914400" latinLnBrk="1">
              <a:defRPr/>
            </a:pPr>
            <a:r>
              <a:rPr lang="en-US" altLang="ko-KR" sz="11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  <a:sym typeface="Wingdings" pitchFamily="2" charset="2"/>
              </a:rPr>
              <a:t>Entries were displayed in load order, with no sorting. Finding a model took time and made it easy to select the wrong one.</a:t>
            </a:r>
          </a:p>
          <a:p>
            <a:pPr defTabSz="914400" latinLnBrk="1">
              <a:defRPr/>
            </a:pPr>
            <a:endParaRPr lang="en-US" altLang="ko-KR" sz="1100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  <a:cs typeface="Arial" panose="020B0604020202020204" pitchFamily="34" charset="0"/>
              <a:sym typeface="Wingdings" pitchFamily="2" charset="2"/>
            </a:endParaRPr>
          </a:p>
          <a:p>
            <a:pPr defTabSz="914400" latinLnBrk="1">
              <a:defRPr/>
            </a:pPr>
            <a:r>
              <a:rPr lang="en-US" altLang="ko-KR" sz="11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  <a:sym typeface="Wingdings" pitchFamily="2" charset="2"/>
              </a:rPr>
              <a:t>At changeover this adds time to a step that is already on the critical path of the line.</a:t>
            </a:r>
            <a:r>
              <a:rPr lang="en-US" altLang="ko-KR" sz="1100" dirty="0" err="1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  <a:sym typeface="Wingdings" pitchFamily="2" charset="2"/>
              </a:rPr>
              <a:t/>
            </a:r>
            <a:r>
              <a:rPr lang="en-US" altLang="ko-KR" sz="11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  <a:sym typeface="Wingdings" pitchFamily="2" charset="2"/>
              </a:rPr>
              <a:t/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2C7A66-96E5-67E7-0D50-F80DB89DD3EB}"/>
              </a:ext>
            </a:extLst>
          </p:cNvPr>
          <p:cNvSpPr txBox="1"/>
          <p:nvPr/>
        </p:nvSpPr>
        <p:spPr>
          <a:xfrm>
            <a:off x="4250616" y="576400"/>
            <a:ext cx="4498076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555"/>
              </a:spcAft>
            </a:pPr>
            <a:r>
              <a:rPr lang="ko-KR" altLang="en-US" sz="1000" spc="-29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</a:rPr>
              <a:t>■ Date : </a:t>
            </a:r>
            <a:r>
              <a:rPr lang="es-MX" altLang="ko-KR" sz="1000" b="1" spc="-29" dirty="0">
                <a:latin typeface="Arial Narrow" panose="020B0606020202030204" pitchFamily="34" charset="0"/>
                <a:ea typeface="LG스마트체 Regular" panose="020B0600000101010101" pitchFamily="50" charset="-127"/>
              </a:rPr>
              <a:t>18</a:t>
            </a:r>
            <a:r>
              <a:rPr lang="en-US" altLang="ko-KR" sz="1000" b="1" spc="-29" dirty="0" smtClean="0">
                <a:latin typeface="Arial Narrow" panose="020B0606020202030204" pitchFamily="34" charset="0"/>
                <a:ea typeface="LG스마트체 Regular" panose="020B0600000101010101" pitchFamily="50" charset="-127"/>
              </a:rPr>
              <a:t>/09/2026</a:t>
            </a:r>
            <a:r>
              <a:rPr lang="ko-KR" altLang="en-US" sz="1000" b="1" spc="-29" dirty="0" smtClean="0">
                <a:latin typeface="Arial Narrow" panose="020B0606020202030204" pitchFamily="34" charset="0"/>
                <a:ea typeface="LG스마트체 Regular" panose="020B0600000101010101" pitchFamily="50" charset="-127"/>
              </a:rPr>
              <a:t> </a:t>
            </a:r>
            <a:r>
              <a:rPr lang="ko-KR" altLang="en-US" sz="1000" spc="-29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</a:rPr>
              <a:t>■ Writer : </a:t>
            </a:r>
            <a:r>
              <a:rPr lang="es-MX" altLang="ko-KR" sz="1000" spc="-29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</a:rPr>
              <a:t>Guillermo Carrillo</a:t>
            </a:r>
            <a:r>
              <a:rPr lang="en-US" altLang="ko-KR" sz="1000" b="1" spc="-29" dirty="0">
                <a:latin typeface="Arial Narrow" panose="020B0606020202030204" pitchFamily="34" charset="0"/>
                <a:ea typeface="LG스마트체 Regular" panose="020B0600000101010101" pitchFamily="50" charset="-127"/>
              </a:rPr>
              <a:t>      </a:t>
            </a:r>
            <a:r>
              <a:rPr lang="ko-KR" altLang="en-US" sz="1000" spc="-29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</a:rPr>
              <a:t>■ Division: </a:t>
            </a:r>
            <a:r>
              <a:rPr lang="en-US" altLang="ko-KR" sz="1000" b="1" spc="-29" dirty="0">
                <a:latin typeface="Arial Narrow" panose="020B0606020202030204" pitchFamily="34" charset="0"/>
                <a:ea typeface="LG스마트체 Regular" panose="020B0600000101010101" pitchFamily="50" charset="-127"/>
              </a:rPr>
              <a:t>CM</a:t>
            </a:r>
            <a:r>
              <a:rPr lang="ko-KR" altLang="en-US" sz="1000" b="1" spc="-29" dirty="0">
                <a:latin typeface="Arial Narrow" panose="020B0606020202030204" pitchFamily="34" charset="0"/>
                <a:ea typeface="LG스마트체 Regular" panose="020B0600000101010101" pitchFamily="50" charset="-127"/>
              </a:rPr>
              <a:t>       </a:t>
            </a:r>
            <a:r>
              <a:rPr lang="ko-KR" altLang="en-US" sz="1000" spc="-29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</a:rPr>
              <a:t>■ Team:</a:t>
            </a:r>
            <a:r>
              <a:rPr lang="ko-KR" altLang="en-US" sz="1000" spc="-29" dirty="0">
                <a:latin typeface="Arial Narrow" panose="020B0606020202030204" pitchFamily="34" charset="0"/>
                <a:ea typeface="LG스마트체 Regular" panose="020B0600000101010101" pitchFamily="50" charset="-127"/>
              </a:rPr>
              <a:t> </a:t>
            </a:r>
            <a:r>
              <a:rPr lang="en-US" altLang="ko-KR" sz="1000" b="1" spc="-29" dirty="0">
                <a:latin typeface="Arial Narrow" panose="020B0606020202030204" pitchFamily="34" charset="0"/>
                <a:ea typeface="LG스마트체 Regular" panose="020B0600000101010101" pitchFamily="50" charset="-127"/>
              </a:rPr>
              <a:t>Production Engineering</a:t>
            </a:r>
          </a:p>
        </p:txBody>
      </p:sp>
      <p:sp>
        <p:nvSpPr>
          <p:cNvPr id="41" name="Text Box 22">
            <a:extLst>
              <a:ext uri="{FF2B5EF4-FFF2-40B4-BE49-F238E27FC236}">
                <a16:creationId xmlns:a16="http://schemas.microsoft.com/office/drawing/2014/main" id="{281CC93F-E659-4A34-B26F-E7FDC768FB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6757" y="4125280"/>
            <a:ext cx="2410873" cy="21720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>
            <a:spAutoFit/>
          </a:bodyPr>
          <a:lstStyle>
            <a:defPPr>
              <a:defRPr lang="en-US"/>
            </a:defPPr>
            <a:lvl1pPr algn="just" eaLnBrk="0" hangingPunct="0">
              <a:defRPr kumimoji="1" sz="110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defRPr>
            </a:lvl1pPr>
            <a:lvl2pPr marL="742950" indent="-285750" eaLnBrk="0" hangingPunct="0">
              <a:defRPr kumimoji="1"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9pPr>
          </a:lstStyle>
          <a:p>
            <a:r>
              <a:rPr lang="es-MX" altLang="ko-KR" sz="1400" b="1" dirty="0" smtClean="0"/>
              <a:t>IMPACT:</a:t>
            </a:r>
            <a:endParaRPr lang="es-419" altLang="ko-KR" sz="1400" b="1" dirty="0" smtClean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dirty="0"/>
              <a:t>Shorter changeover time.</a:t>
            </a:r>
            <a:r>
              <a:rPr lang="en-US" altLang="ko-KR" dirty="0" smtClean="0"/>
              <a:t/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MX" altLang="ko-KR" dirty="0" err="1"/>
              <a:t>Lower risk of selecting the wrong model.</a:t>
            </a:r>
            <a:r>
              <a:rPr lang="es-MX" altLang="ko-KR" dirty="0"/>
              <a:t> </a:t>
            </a:r>
            <a:r>
              <a:rPr lang="es-MX" altLang="ko-KR" dirty="0" err="1"/>
              <a:t/>
            </a:r>
            <a:r>
              <a:rPr lang="es-MX" altLang="ko-KR" dirty="0"/>
              <a:t> </a:t>
            </a:r>
            <a:r>
              <a:rPr lang="es-MX" altLang="ko-KR" dirty="0" err="1"/>
              <a:t/>
            </a:r>
            <a:r>
              <a:rPr lang="es-MX" altLang="ko-KR" dirty="0" smtClean="0"/>
              <a:t/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s-MX" altLang="ko-K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dirty="0"/>
              <a:t>Applicable to the other stations that show the same list.</a:t>
            </a:r>
            <a:endParaRPr lang="ko-KR" altLang="en-US" dirty="0"/>
          </a:p>
        </p:txBody>
      </p:sp>
      <p:sp>
        <p:nvSpPr>
          <p:cNvPr id="19" name="TextBox 18"/>
          <p:cNvSpPr txBox="1"/>
          <p:nvPr/>
        </p:nvSpPr>
        <p:spPr>
          <a:xfrm>
            <a:off x="3277620" y="5919793"/>
            <a:ext cx="360868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LG스마트체 Regular" panose="020B0600000101010101" pitchFamily="34" charset="-127"/>
                <a:ea typeface="LG스마트체 Regular" panose="020B0600000101010101" pitchFamily="34" charset="-127"/>
              </a:rPr>
              <a:t/>
            </a:r>
            <a:endParaRPr lang="es-MX" sz="1100" dirty="0">
              <a:latin typeface="LG스마트체 Regular" panose="020B0600000101010101" pitchFamily="34" charset="-127"/>
              <a:ea typeface="LG스마트체 Regular" panose="020B0600000101010101" pitchFamily="34" charset="-127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396917" y="3764733"/>
            <a:ext cx="1622881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LG스마트체 Regular" panose="020B0600000101010101" pitchFamily="34" charset="-127"/>
                <a:ea typeface="LG스마트체 Regular" panose="020B0600000101010101" pitchFamily="34" charset="-127"/>
              </a:rPr>
              <a:t/>
            </a:r>
            <a:endParaRPr lang="es-MX" sz="1100" dirty="0">
              <a:latin typeface="LG스마트체 Regular" panose="020B0600000101010101" pitchFamily="34" charset="-127"/>
              <a:ea typeface="LG스마트체 Regular" panose="020B060000010101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55971772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895</TotalTime>
  <Words>299</Words>
  <Application>Microsoft Office PowerPoint</Application>
  <PresentationFormat>A4 Paper (210x297 mm)</PresentationFormat>
  <Paragraphs>54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2" baseType="lpstr">
      <vt:lpstr>LG스마트체 Regular</vt:lpstr>
      <vt:lpstr>LG스마트체 SemiBold</vt:lpstr>
      <vt:lpstr>LG스마트체2.0 Bold</vt:lpstr>
      <vt:lpstr>가는둥근제목체</vt:lpstr>
      <vt:lpstr>맑은 고딕</vt:lpstr>
      <vt:lpstr>바탕</vt:lpstr>
      <vt:lpstr>Arial</vt:lpstr>
      <vt:lpstr>Arial Narrow</vt:lpstr>
      <vt:lpstr>Times New Roman</vt:lpstr>
      <vt:lpstr>Wingdings</vt:lpstr>
      <vt:lpstr>3_Office 테마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haeyun Jeong(정해윤)</dc:creator>
  <cp:lastModifiedBy>Saul Rodriguez Garduno</cp:lastModifiedBy>
  <cp:revision>53</cp:revision>
  <dcterms:created xsi:type="dcterms:W3CDTF">2024-01-23T23:13:38Z</dcterms:created>
  <dcterms:modified xsi:type="dcterms:W3CDTF">2026-09-19T02:09:13Z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9b8a968-831d-4cfc-b1f9-4367a1331151_Enabled">
    <vt:lpwstr>true</vt:lpwstr>
  </property>
  <property fmtid="{D5CDD505-2E9C-101B-9397-08002B2CF9AE}" pid="3" name="MSIP_Label_99b8a968-831d-4cfc-b1f9-4367a1331151_SetDate">
    <vt:lpwstr>2024-05-04T19:05:14Z</vt:lpwstr>
  </property>
  <property fmtid="{D5CDD505-2E9C-101B-9397-08002B2CF9AE}" pid="4" name="MSIP_Label_99b8a968-831d-4cfc-b1f9-4367a1331151_Method">
    <vt:lpwstr>Privileged</vt:lpwstr>
  </property>
  <property fmtid="{D5CDD505-2E9C-101B-9397-08002B2CF9AE}" pid="5" name="MSIP_Label_99b8a968-831d-4cfc-b1f9-4367a1331151_Name">
    <vt:lpwstr>Confidential</vt:lpwstr>
  </property>
  <property fmtid="{D5CDD505-2E9C-101B-9397-08002B2CF9AE}" pid="6" name="MSIP_Label_99b8a968-831d-4cfc-b1f9-4367a1331151_SiteId">
    <vt:lpwstr>e6c7989d-a5fe-4b7b-a335-3288406db2fd</vt:lpwstr>
  </property>
  <property fmtid="{D5CDD505-2E9C-101B-9397-08002B2CF9AE}" pid="7" name="MSIP_Label_99b8a968-831d-4cfc-b1f9-4367a1331151_ActionId">
    <vt:lpwstr>66310290-fea6-40d2-83bd-c8b58c1b5aea</vt:lpwstr>
  </property>
  <property fmtid="{D5CDD505-2E9C-101B-9397-08002B2CF9AE}" pid="8" name="MSIP_Label_99b8a968-831d-4cfc-b1f9-4367a1331151_ContentBits">
    <vt:lpwstr>3</vt:lpwstr>
  </property>
</Properties>
</file>