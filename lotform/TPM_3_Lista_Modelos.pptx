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Relationship Id="rIdImg0" Type="http://schemas.openxmlformats.org/officeDocument/2006/relationships/image" Target="../media/tpm3_before.png"/><Relationship Id="rIdImg1" Type="http://schemas.openxmlformats.org/officeDocument/2006/relationships/image" Target="../media/tpm3_after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Model filter buttons on the Lot screen module list</a:t>
            </a: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Install PCB - model selection at changeover (Lot screen)</a:t>
            </a: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At every changeover the operator had to scroll through a flat list of 113+ modules, in load order, to find the model to run.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2212848"/>
            <a:ext cx="2633472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EFFECT:</a:t>
            </a:r>
          </a:p>
          <a:p>
            <a:pPr algn="l" marL="171450" indent="-171450">
              <a:buFont typeface="Arial"/>
              <a:buChar char="•"/>
            </a:pPr>
            <a:r>
              <a:rPr lang="en-US" altLang="ko-KR" dirty="0" sz="1000"/>
              <a:t>Finding the model at changeover now takes one tap plus a short list.</a:t>
            </a:r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04" y="4846320"/>
            <a:ext cx="2194560" cy="23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8416" y="2432304"/>
            <a:ext cx="361188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buNone/>
            </a:pPr>
            <a:r>
              <a:rPr lang="en-US" altLang="ko-KR" dirty="0" sz="1000"/>
              <a:t>Model filter buttons added above the module list. Each button is a model number (1-15) and shows the variants it has (L, R, X). One tap shows only that model; TODOS shows the full list.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" y="5102352"/>
            <a:ext cx="2999232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400"/>
              </a:spcAft>
              <a:buNone/>
            </a:pPr>
            <a:r>
              <a:rPr lang="en-US" altLang="ko-KR" dirty="0" sz="1000"/>
              <a:t>No grouping by model: variants of the same model (L, R, X and revisions MM00, MM10, MM20...) were scattered across the list.</a:t>
            </a:r>
          </a:p>
          <a:p>
            <a:pPr algn="l">
              <a:buNone/>
            </a:pPr>
            <a:r>
              <a:rPr lang="en-US" altLang="ko-KR" dirty="0" sz="1000"/>
              <a:t>The search was slow and it was easy to pick a similar name by mistake, on a step that is on the critical path of the changeover.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4206240"/>
            <a:ext cx="2633472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IMPACT: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About 35 s saved per changeover in the model search.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Lower risk of picking the wrong model: only its variants are shown.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Applicable to other stations with the same Lot screen.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5870448"/>
            <a:ext cx="36118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TODOS keeps the full list available and CHANGE works as before, so the operator workflow stays the same.</a:t>
            </a:r>
          </a:p>
        </p:txBody>
      </p:sp>
      <p:sp>
        <p:nvSpPr>
          <p:cNvPr id="401" name="Added box 401"/>
          <p:cNvSpPr/>
          <p:nvPr/>
        </p:nvSpPr>
        <p:spPr>
          <a:xfrm>
            <a:off x="201168" y="3182112"/>
            <a:ext cx="283464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A50034"/>
                </a:solidFill>
                <a:latin typeface="Arial"/>
                <a:cs typeface="Arial"/>
              </a:rPr>
              <a:t>Before: one flat list, load order (113+ entries)</a:t>
            </a:r>
          </a:p>
        </p:txBody>
      </p:sp>
      <p:pic>
        <p:nvPicPr>
          <p:cNvPr id="501" name="Lot screen before" descr="Lot screen before"/>
          <p:cNvPicPr>
            <a:picLocks noChangeAspect="1"/>
          </p:cNvPicPr>
          <p:nvPr/>
        </p:nvPicPr>
        <p:blipFill>
          <a:blip r:embed="rIdImg0"/>
          <a:stretch>
            <a:fillRect/>
          </a:stretch>
        </p:blipFill>
        <p:spPr>
          <a:xfrm>
            <a:off x="219456" y="3364992"/>
            <a:ext cx="2852928" cy="1383882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02" name="Added box 402"/>
          <p:cNvSpPr/>
          <p:nvPr/>
        </p:nvSpPr>
        <p:spPr>
          <a:xfrm>
            <a:off x="3346704" y="3154680"/>
            <a:ext cx="356616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00703C"/>
                </a:solidFill>
                <a:latin typeface="Arial"/>
                <a:cs typeface="Arial"/>
              </a:rPr>
              <a:t>After: filter by model number (model 6 selected → 10 entries)</a:t>
            </a:r>
          </a:p>
        </p:txBody>
      </p:sp>
      <p:pic>
        <p:nvPicPr>
          <p:cNvPr id="502" name="Lot screen after" descr="Lot screen after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3346704" y="3337560"/>
            <a:ext cx="3566160" cy="1579731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03" name="Added box 403"/>
          <p:cNvSpPr/>
          <p:nvPr/>
        </p:nvSpPr>
        <p:spPr>
          <a:xfrm>
            <a:off x="3346704" y="5072739"/>
            <a:ext cx="356616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595959"/>
                </a:solidFill>
                <a:latin typeface="Arial"/>
                <a:cs typeface="Arial"/>
              </a:rPr>
              <a:t>How the module name maps to the buttons</a:t>
            </a:r>
          </a:p>
        </p:txBody>
      </p:sp>
      <p:sp>
        <p:nvSpPr>
          <p:cNvPr id="404" name="Added box 404"/>
          <p:cNvSpPr/>
          <p:nvPr/>
        </p:nvSpPr>
        <p:spPr>
          <a:xfrm>
            <a:off x="3401568" y="5264763"/>
            <a:ext cx="868680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404040"/>
                </a:solidFill>
                <a:latin typeface="Arial"/>
                <a:cs typeface="Arial"/>
              </a:rPr>
              <a:t>ACS05S</a:t>
            </a:r>
          </a:p>
        </p:txBody>
      </p:sp>
      <p:sp>
        <p:nvSpPr>
          <p:cNvPr id="405" name="Added box 405"/>
          <p:cNvSpPr/>
          <p:nvPr/>
        </p:nvSpPr>
        <p:spPr>
          <a:xfrm>
            <a:off x="3401568" y="5548227"/>
            <a:ext cx="8686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family</a:t>
            </a:r>
          </a:p>
        </p:txBody>
      </p:sp>
      <p:sp>
        <p:nvSpPr>
          <p:cNvPr id="406" name="Added box 406"/>
          <p:cNvSpPr/>
          <p:nvPr/>
        </p:nvSpPr>
        <p:spPr>
          <a:xfrm>
            <a:off x="4343400" y="5264763"/>
            <a:ext cx="777240" cy="274320"/>
          </a:xfrm>
          <a:prstGeom prst="rect">
            <a:avLst/>
          </a:prstGeom>
          <a:solidFill>
            <a:srgbClr val="A50034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FFFFFF"/>
                </a:solidFill>
                <a:latin typeface="Arial"/>
                <a:cs typeface="Arial"/>
              </a:rPr>
              <a:t>006</a:t>
            </a:r>
          </a:p>
        </p:txBody>
      </p:sp>
      <p:sp>
        <p:nvSpPr>
          <p:cNvPr id="407" name="Added box 407"/>
          <p:cNvSpPr/>
          <p:nvPr/>
        </p:nvSpPr>
        <p:spPr>
          <a:xfrm>
            <a:off x="4343400" y="5548227"/>
            <a:ext cx="77724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model → button</a:t>
            </a:r>
          </a:p>
        </p:txBody>
      </p:sp>
      <p:sp>
        <p:nvSpPr>
          <p:cNvPr id="408" name="Added box 408"/>
          <p:cNvSpPr/>
          <p:nvPr/>
        </p:nvSpPr>
        <p:spPr>
          <a:xfrm>
            <a:off x="5193792" y="5264763"/>
            <a:ext cx="640080" cy="274320"/>
          </a:xfrm>
          <a:prstGeom prst="rect">
            <a:avLst/>
          </a:prstGeom>
          <a:solidFill>
            <a:srgbClr val="595959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FFFFFF"/>
                </a:solidFill>
                <a:latin typeface="Arial"/>
                <a:cs typeface="Arial"/>
              </a:rPr>
              <a:t>L</a:t>
            </a:r>
          </a:p>
        </p:txBody>
      </p:sp>
      <p:sp>
        <p:nvSpPr>
          <p:cNvPr id="409" name="Added box 409"/>
          <p:cNvSpPr/>
          <p:nvPr/>
        </p:nvSpPr>
        <p:spPr>
          <a:xfrm>
            <a:off x="5193792" y="5548227"/>
            <a:ext cx="6400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L / R / X</a:t>
            </a:r>
          </a:p>
        </p:txBody>
      </p:sp>
      <p:sp>
        <p:nvSpPr>
          <p:cNvPr id="410" name="Added box 410"/>
          <p:cNvSpPr/>
          <p:nvPr/>
        </p:nvSpPr>
        <p:spPr>
          <a:xfrm>
            <a:off x="5907024" y="5264763"/>
            <a:ext cx="868680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404040"/>
                </a:solidFill>
                <a:latin typeface="Arial"/>
                <a:cs typeface="Arial"/>
              </a:rPr>
              <a:t>.MM00</a:t>
            </a:r>
          </a:p>
        </p:txBody>
      </p:sp>
      <p:sp>
        <p:nvSpPr>
          <p:cNvPr id="411" name="Added box 411"/>
          <p:cNvSpPr/>
          <p:nvPr/>
        </p:nvSpPr>
        <p:spPr>
          <a:xfrm>
            <a:off x="5907024" y="5548227"/>
            <a:ext cx="8686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revision</a:t>
            </a:r>
          </a:p>
        </p:txBody>
      </p:sp>
      <p:sp>
        <p:nvSpPr>
          <p:cNvPr id="412" name="Added box 412"/>
          <p:cNvSpPr/>
          <p:nvPr/>
        </p:nvSpPr>
        <p:spPr>
          <a:xfrm>
            <a:off x="7223760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A50034"/>
                </a:solidFill>
                <a:latin typeface="Arial"/>
                <a:cs typeface="Arial"/>
              </a:rPr>
              <a:t>~45 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before</a:t>
            </a:r>
          </a:p>
        </p:txBody>
      </p:sp>
      <p:sp>
        <p:nvSpPr>
          <p:cNvPr id="413" name="Added box 413"/>
          <p:cNvSpPr/>
          <p:nvPr/>
        </p:nvSpPr>
        <p:spPr>
          <a:xfrm>
            <a:off x="8101583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00703C"/>
                </a:solidFill>
                <a:latin typeface="Arial"/>
                <a:cs typeface="Arial"/>
              </a:rPr>
              <a:t>~10 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after</a:t>
            </a:r>
          </a:p>
        </p:txBody>
      </p:sp>
      <p:sp>
        <p:nvSpPr>
          <p:cNvPr id="414" name="Added box 414"/>
          <p:cNvSpPr/>
          <p:nvPr/>
        </p:nvSpPr>
        <p:spPr>
          <a:xfrm>
            <a:off x="8979408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00703C"/>
                </a:solidFill>
                <a:latin typeface="Arial"/>
                <a:cs typeface="Arial"/>
              </a:rPr>
              <a:t>-78%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time</a:t>
            </a:r>
          </a:p>
        </p:txBody>
      </p:sp>
      <p:sp>
        <p:nvSpPr>
          <p:cNvPr id="415" name="Added box 415"/>
          <p:cNvSpPr/>
          <p:nvPr/>
        </p:nvSpPr>
        <p:spPr>
          <a:xfrm>
            <a:off x="7223760" y="3621024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A50034"/>
                </a:solidFill>
                <a:latin typeface="Arial"/>
                <a:cs typeface="Arial"/>
              </a:rPr>
              <a:t>113+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entries to scan before</a:t>
            </a:r>
          </a:p>
        </p:txBody>
      </p:sp>
      <p:sp>
        <p:nvSpPr>
          <p:cNvPr id="416" name="Added box 416"/>
          <p:cNvSpPr/>
          <p:nvPr/>
        </p:nvSpPr>
        <p:spPr>
          <a:xfrm>
            <a:off x="8503920" y="3621024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00703C"/>
                </a:solidFill>
                <a:latin typeface="Arial"/>
                <a:cs typeface="Arial"/>
              </a:rPr>
              <a:t>~10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entries per model</a:t>
            </a:r>
          </a:p>
        </p:txBody>
      </p:sp>
      <p:sp>
        <p:nvSpPr>
          <p:cNvPr id="417" name="Added box 417"/>
          <p:cNvSpPr/>
          <p:nvPr/>
        </p:nvSpPr>
        <p:spPr>
          <a:xfrm>
            <a:off x="7223760" y="5596128"/>
            <a:ext cx="2523744" cy="51206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Line 1 with all updates</a:t>
            </a:r>
          </a:p>
          <a:p>
            <a:pPr algn="l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20,127 pcs on 2 Oct vs 16,678 on 12 Aug (+20.7%). 1 Oct: 17,449 pcs (controlled material), best hour 1,003.</a:t>
            </a:r>
          </a:p>
        </p:txBody>
      </p:sp>
      <p:sp>
        <p:nvSpPr>
          <p:cNvPr id="310" name="Source note"/>
          <p:cNvSpPr txBox="1"/>
          <p:nvPr/>
        </p:nvSpPr>
        <p:spPr>
          <a:xfrm>
            <a:off x="7223760" y="6217920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buNone/>
            </a:pPr>
            <a:r>
              <a:rPr lang="en-US" altLang="ko-KR" dirty="0" sz="650">
                <a:solidFill>
                  <a:srgbClr val="7F7F7F"/>
                </a:solidFill>
              </a:rPr>
              <a:t>Search times are approximate operator observations; effect on total changeover time still to be measured. Line data: hourly production report, TOP TLA Line 1.</a:t>
            </a: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