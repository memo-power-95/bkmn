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43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57" autoAdjust="0"/>
    <p:restoredTop sz="95332" autoAdjust="0"/>
  </p:normalViewPr>
  <p:slideViewPr>
    <p:cSldViewPr snapToGrid="0">
      <p:cViewPr varScale="1">
        <p:scale>
          <a:sx n="112" d="100"/>
          <a:sy n="112" d="100"/>
        </p:scale>
        <p:origin x="114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6EB0B-3736-454C-BDC9-CFE6B03A8AAF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146203-DBE1-497C-BB2D-98327BF1F7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952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5264">
              <a:defRPr/>
            </a:pPr>
            <a:endParaRPr lang="en-US" altLang="ko-KR" dirty="0">
              <a:solidFill>
                <a:schemeClr val="tx1"/>
              </a:solidFill>
              <a:latin typeface="Arial Narrow" pitchFamily="34" charset="0"/>
              <a:ea typeface="가는둥근제목체" pitchFamily="18" charset="-127"/>
              <a:cs typeface="Times New Roman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43883B-7D6F-4E64-B93B-9457A9247E9C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3268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6958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5744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"/>
          <p:cNvSpPr txBox="1">
            <a:spLocks noChangeArrowheads="1"/>
          </p:cNvSpPr>
          <p:nvPr userDrawn="1"/>
        </p:nvSpPr>
        <p:spPr bwMode="auto">
          <a:xfrm>
            <a:off x="100000" y="536107"/>
            <a:ext cx="800477" cy="166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eaLnBrk="1" fontAlgn="auto" hangingPunct="1">
              <a:spcAft>
                <a:spcPts val="0"/>
              </a:spcAft>
              <a:defRPr sz="20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90000"/>
              </a:lnSpc>
            </a:pPr>
            <a:r>
              <a:rPr lang="ko-KR" altLang="en-US" sz="1200" b="1" u="none" spc="-30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☞</a:t>
            </a:r>
            <a:r>
              <a:rPr lang="ko-KR" altLang="en-US" sz="1200" b="1" u="none" spc="-30" dirty="0">
                <a:solidFill>
                  <a:schemeClr val="tx1"/>
                </a:solidFill>
              </a:rPr>
              <a:t> </a:t>
            </a:r>
            <a:r>
              <a:rPr lang="en-US" altLang="ko-KR" sz="1200" b="1" u="none" spc="-30" dirty="0">
                <a:solidFill>
                  <a:schemeClr val="tx1"/>
                </a:solidFill>
              </a:rPr>
              <a:t>Idea </a:t>
            </a:r>
            <a:r>
              <a:rPr lang="ko-KR" altLang="en-US" sz="1200" b="1" u="none" spc="-30" dirty="0">
                <a:solidFill>
                  <a:schemeClr val="tx1"/>
                </a:solidFill>
              </a:rPr>
              <a:t>발상</a:t>
            </a:r>
            <a:endParaRPr lang="en-US" altLang="ko-KR" sz="1800" b="1" u="none" spc="-30" dirty="0">
              <a:solidFill>
                <a:schemeClr val="tx1"/>
              </a:solidFill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012BBBE0-E98F-588B-E7C8-2FCC7B62B52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6013" y="507035"/>
            <a:ext cx="8957817" cy="1048"/>
          </a:xfrm>
          <a:prstGeom prst="line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06BEC9B-7510-3F9F-4052-5C6CCCB795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45550" y="254538"/>
            <a:ext cx="924824" cy="269374"/>
          </a:xfrm>
          <a:prstGeom prst="rect">
            <a:avLst/>
          </a:prstGeom>
          <a:noFill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8B8192F-9FA3-6243-E1A7-4CD2AC29FCAE}"/>
              </a:ext>
            </a:extLst>
          </p:cNvPr>
          <p:cNvSpPr txBox="1"/>
          <p:nvPr userDrawn="1"/>
        </p:nvSpPr>
        <p:spPr>
          <a:xfrm>
            <a:off x="7635488" y="322539"/>
            <a:ext cx="114382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ko-KR" altLang="en-US" sz="800" spc="-4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○ 완료</a:t>
            </a:r>
            <a:r>
              <a:rPr lang="en-US" altLang="ko-KR" sz="800" spc="-4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800" spc="-4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△ 진행 중</a:t>
            </a:r>
            <a:r>
              <a:rPr lang="en-US" altLang="ko-KR" sz="800" spc="-4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, X </a:t>
            </a:r>
            <a:r>
              <a:rPr lang="ko-KR" altLang="en-US" sz="800" spc="-4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불필요</a:t>
            </a:r>
            <a:endParaRPr lang="ko-KR" altLang="en-US" sz="800" spc="-40" baseline="0" dirty="0">
              <a:solidFill>
                <a:prstClr val="black">
                  <a:lumMod val="65000"/>
                  <a:lumOff val="35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MSIPCMContentMarking" descr="{&quot;HashCode&quot;:1951497329,&quot;Placement&quot;:&quot;Footer&quot;,&quot;Top&quot;:521.91,&quot;Left&quot;:0.0,&quot;SlideWidth&quot;:780,&quot;SlideHeight&quot;:540}">
            <a:extLst>
              <a:ext uri="{FF2B5EF4-FFF2-40B4-BE49-F238E27FC236}">
                <a16:creationId xmlns:a16="http://schemas.microsoft.com/office/drawing/2014/main" id="{12AAB368-A7C1-43AE-BFC6-ABE9638B5267}"/>
              </a:ext>
            </a:extLst>
          </p:cNvPr>
          <p:cNvSpPr txBox="1"/>
          <p:nvPr userDrawn="1"/>
        </p:nvSpPr>
        <p:spPr>
          <a:xfrm>
            <a:off x="0" y="6628257"/>
            <a:ext cx="4632731" cy="22974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900">
                <a:solidFill>
                  <a:srgbClr val="808080"/>
                </a:solidFill>
                <a:latin typeface="LG스마트체 SemiBold" panose="020B0600000101010101" pitchFamily="50" charset="-127"/>
              </a:rPr>
              <a:t>LG Innotek Confidential : This document is protected by security policies and laws.</a:t>
            </a:r>
            <a:endParaRPr lang="ko-KR" altLang="en-US" sz="900">
              <a:solidFill>
                <a:srgbClr val="808080"/>
              </a:solidFill>
              <a:latin typeface="LG스마트체 SemiBold" panose="020B0600000101010101" pitchFamily="50" charset="-127"/>
            </a:endParaRPr>
          </a:p>
        </p:txBody>
      </p:sp>
      <p:sp>
        <p:nvSpPr>
          <p:cNvPr id="5" name="MSIPCMContentMarking" descr="{&quot;HashCode&quot;:166943725,&quot;Placement&quot;:&quot;Header&quot;,&quot;Top&quot;:0.0,&quot;Left&quot;:685.0934,&quot;SlideWidth&quot;:780,&quot;SlideHeight&quot;:540}">
            <a:extLst>
              <a:ext uri="{FF2B5EF4-FFF2-40B4-BE49-F238E27FC236}">
                <a16:creationId xmlns:a16="http://schemas.microsoft.com/office/drawing/2014/main" id="{1C6DA701-D2FC-45C4-96C0-A0240BD62C56}"/>
              </a:ext>
            </a:extLst>
          </p:cNvPr>
          <p:cNvSpPr txBox="1"/>
          <p:nvPr userDrawn="1"/>
        </p:nvSpPr>
        <p:spPr>
          <a:xfrm>
            <a:off x="8700686" y="0"/>
            <a:ext cx="1205314" cy="2604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C0004B"/>
                </a:solidFill>
                <a:latin typeface="LG스마트체2.0 Bold" panose="020B0600000101010101" pitchFamily="50" charset="-127"/>
              </a:rPr>
              <a:t>[Confidential]</a:t>
            </a:r>
            <a:endParaRPr lang="ko-KR" altLang="en-US" sz="1100">
              <a:solidFill>
                <a:srgbClr val="C0004B"/>
              </a:solidFill>
              <a:latin typeface="LG스마트체2.0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9210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B4C45B1D-E888-4864-B011-5E6CCF1F7936}"/>
              </a:ext>
            </a:extLst>
          </p:cNvPr>
          <p:cNvGrpSpPr/>
          <p:nvPr/>
        </p:nvGrpSpPr>
        <p:grpSpPr>
          <a:xfrm>
            <a:off x="7091806" y="1855036"/>
            <a:ext cx="2728470" cy="4813582"/>
            <a:chOff x="7091806" y="1808152"/>
            <a:chExt cx="2609448" cy="4813582"/>
          </a:xfrm>
        </p:grpSpPr>
        <p:sp>
          <p:nvSpPr>
            <p:cNvPr id="56" name="AutoShape 20"/>
            <p:cNvSpPr>
              <a:spLocks noChangeArrowheads="1"/>
            </p:cNvSpPr>
            <p:nvPr/>
          </p:nvSpPr>
          <p:spPr bwMode="auto">
            <a:xfrm>
              <a:off x="7091806" y="2013357"/>
              <a:ext cx="2609448" cy="4608377"/>
            </a:xfrm>
            <a:prstGeom prst="roundRect">
              <a:avLst>
                <a:gd name="adj" fmla="val 2403"/>
              </a:avLst>
            </a:prstGeom>
            <a:solidFill>
              <a:schemeClr val="bg1"/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55" name="AutoShape 20"/>
            <p:cNvSpPr>
              <a:spLocks noChangeArrowheads="1"/>
            </p:cNvSpPr>
            <p:nvPr/>
          </p:nvSpPr>
          <p:spPr bwMode="auto">
            <a:xfrm>
              <a:off x="7091806" y="1808152"/>
              <a:ext cx="2609448" cy="294484"/>
            </a:xfrm>
            <a:prstGeom prst="roundRect">
              <a:avLst>
                <a:gd name="adj" fmla="val 10700"/>
              </a:avLst>
            </a:prstGeom>
            <a:solidFill>
              <a:schemeClr val="bg1">
                <a:lumMod val="85000"/>
              </a:schemeClr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419" altLang="ko-KR" sz="1400" b="1" kern="0" dirty="0">
                  <a:solidFill>
                    <a:sysClr val="windowText" lastClr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After </a:t>
              </a:r>
              <a:r>
                <a:rPr lang="es-419" altLang="ko-KR" sz="1400" b="1" kern="0" dirty="0" err="1">
                  <a:solidFill>
                    <a:sysClr val="windowText" lastClr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improvement</a:t>
              </a:r>
              <a:endPara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C70F6EBB-F0F3-4470-A73A-8A760F7D4373}"/>
              </a:ext>
            </a:extLst>
          </p:cNvPr>
          <p:cNvGrpSpPr/>
          <p:nvPr/>
        </p:nvGrpSpPr>
        <p:grpSpPr>
          <a:xfrm>
            <a:off x="3203374" y="1855036"/>
            <a:ext cx="3816424" cy="4814324"/>
            <a:chOff x="3203374" y="1807410"/>
            <a:chExt cx="3816424" cy="4814324"/>
          </a:xfrm>
        </p:grpSpPr>
        <p:sp>
          <p:nvSpPr>
            <p:cNvPr id="66" name="AutoShape 20"/>
            <p:cNvSpPr>
              <a:spLocks noChangeArrowheads="1"/>
            </p:cNvSpPr>
            <p:nvPr/>
          </p:nvSpPr>
          <p:spPr bwMode="auto">
            <a:xfrm>
              <a:off x="3203374" y="2013358"/>
              <a:ext cx="3816424" cy="4608376"/>
            </a:xfrm>
            <a:prstGeom prst="roundRect">
              <a:avLst>
                <a:gd name="adj" fmla="val 2403"/>
              </a:avLst>
            </a:prstGeom>
            <a:solidFill>
              <a:schemeClr val="bg1"/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5" name="AutoShape 20"/>
            <p:cNvSpPr>
              <a:spLocks noChangeArrowheads="1"/>
            </p:cNvSpPr>
            <p:nvPr/>
          </p:nvSpPr>
          <p:spPr bwMode="auto">
            <a:xfrm>
              <a:off x="3203374" y="1807410"/>
              <a:ext cx="3816424" cy="291459"/>
            </a:xfrm>
            <a:prstGeom prst="roundRect">
              <a:avLst>
                <a:gd name="adj" fmla="val 10700"/>
              </a:avLst>
            </a:prstGeom>
            <a:solidFill>
              <a:schemeClr val="bg1">
                <a:lumMod val="85000"/>
              </a:schemeClr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itchFamily="34" charset="0"/>
                </a:rPr>
                <a:t>Breakthrough</a:t>
              </a: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AD6F9705-D935-4A94-8CF5-843F594B71F8}"/>
              </a:ext>
            </a:extLst>
          </p:cNvPr>
          <p:cNvGrpSpPr/>
          <p:nvPr/>
        </p:nvGrpSpPr>
        <p:grpSpPr>
          <a:xfrm>
            <a:off x="118050" y="1817277"/>
            <a:ext cx="3047476" cy="4813582"/>
            <a:chOff x="161878" y="1808152"/>
            <a:chExt cx="2969488" cy="4813582"/>
          </a:xfrm>
        </p:grpSpPr>
        <p:sp>
          <p:nvSpPr>
            <p:cNvPr id="44" name="AutoShape 20"/>
            <p:cNvSpPr>
              <a:spLocks noChangeArrowheads="1"/>
            </p:cNvSpPr>
            <p:nvPr/>
          </p:nvSpPr>
          <p:spPr bwMode="auto">
            <a:xfrm>
              <a:off x="161878" y="2013358"/>
              <a:ext cx="2969488" cy="4608376"/>
            </a:xfrm>
            <a:prstGeom prst="roundRect">
              <a:avLst>
                <a:gd name="adj" fmla="val 2403"/>
              </a:avLst>
            </a:prstGeom>
            <a:solidFill>
              <a:schemeClr val="bg1"/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43" name="AutoShape 20"/>
            <p:cNvSpPr>
              <a:spLocks noChangeArrowheads="1"/>
            </p:cNvSpPr>
            <p:nvPr/>
          </p:nvSpPr>
          <p:spPr bwMode="auto">
            <a:xfrm>
              <a:off x="161878" y="1808152"/>
              <a:ext cx="2969488" cy="294484"/>
            </a:xfrm>
            <a:prstGeom prst="roundRect">
              <a:avLst>
                <a:gd name="adj" fmla="val 10700"/>
              </a:avLst>
            </a:prstGeom>
            <a:solidFill>
              <a:schemeClr val="bg1">
                <a:lumMod val="85000"/>
              </a:schemeClr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algn="ctr" latinLnBrk="0">
                <a:defRPr/>
              </a:pPr>
              <a:r>
                <a:rPr lang="es-MX" altLang="ko-KR" sz="1400" b="1" kern="0" dirty="0" err="1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Before</a:t>
              </a:r>
              <a:r>
                <a:rPr lang="es-MX" altLang="ko-KR" sz="1400" b="1" kern="0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 </a:t>
              </a:r>
              <a:r>
                <a:rPr lang="es-MX" altLang="ko-KR" sz="1400" b="1" kern="0" dirty="0" err="1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improvement</a:t>
              </a:r>
              <a:endParaRPr lang="ko-KR" altLang="en-US" sz="1400" b="1" kern="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itchFamily="50" charset="-127"/>
              </a:endParaRPr>
            </a:p>
          </p:txBody>
        </p:sp>
      </p:grpSp>
      <p:sp>
        <p:nvSpPr>
          <p:cNvPr id="40" name="Rectangle 4"/>
          <p:cNvSpPr txBox="1">
            <a:spLocks noChangeArrowheads="1"/>
          </p:cNvSpPr>
          <p:nvPr/>
        </p:nvSpPr>
        <p:spPr bwMode="auto">
          <a:xfrm>
            <a:off x="54755" y="102355"/>
            <a:ext cx="7105346" cy="276999"/>
          </a:xfrm>
          <a:prstGeom prst="rect">
            <a:avLst/>
          </a:prstGeom>
          <a:noFill/>
        </p:spPr>
        <p:txBody>
          <a:bodyPr wrap="square" lIns="72000" tIns="0" rIns="36000" bIns="0">
            <a:spAutoFit/>
          </a:bodyPr>
          <a:lstStyle>
            <a:defPPr>
              <a:defRPr lang="ko-KR"/>
            </a:defPPr>
            <a:lvl1pPr eaLnBrk="1" fontAlgn="auto" hangingPunct="1">
              <a:spcAft>
                <a:spcPts val="0"/>
              </a:spcAft>
              <a:defRPr sz="20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lvl="0" defTabSz="914400" latinLnBrk="1">
              <a:defRPr/>
            </a:pPr>
            <a:r>
              <a:rPr lang="en-US" altLang="ko-KR" sz="1800" b="1" spc="-30" dirty="0">
                <a:solidFill>
                  <a:prstClr val="black"/>
                </a:solidFill>
                <a:latin typeface="LG스마트체 Regular" panose="020B0600000101010101" pitchFamily="50" charset="-127"/>
              </a:rPr>
              <a:t>Model filter buttons on the Lot screen module list</a:t>
            </a:r>
          </a:p>
        </p:txBody>
      </p:sp>
      <p:sp>
        <p:nvSpPr>
          <p:cNvPr id="73" name="직사각형 72"/>
          <p:cNvSpPr/>
          <p:nvPr/>
        </p:nvSpPr>
        <p:spPr>
          <a:xfrm>
            <a:off x="117817" y="1169205"/>
            <a:ext cx="8653040" cy="64807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914400" latinLnBrk="1">
              <a:lnSpc>
                <a:spcPct val="110000"/>
              </a:lnSpc>
              <a:defRPr/>
            </a:pPr>
            <a:r>
              <a:rPr lang="en-US" altLang="ko-KR" sz="16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Install PCB - model selection at changeover (Lot screen)</a:t>
            </a:r>
          </a:p>
        </p:txBody>
      </p:sp>
      <p:sp>
        <p:nvSpPr>
          <p:cNvPr id="26" name="Text Box 22">
            <a:extLst>
              <a:ext uri="{FF2B5EF4-FFF2-40B4-BE49-F238E27FC236}">
                <a16:creationId xmlns:a16="http://schemas.microsoft.com/office/drawing/2014/main" id="{0A503ADC-8EA4-4A95-9C09-007B0C087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23" y="2168612"/>
            <a:ext cx="2193527" cy="236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0" rIns="9000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s-419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PHENOMENON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7" name="Text Box 22">
            <a:extLst>
              <a:ext uri="{FF2B5EF4-FFF2-40B4-BE49-F238E27FC236}">
                <a16:creationId xmlns:a16="http://schemas.microsoft.com/office/drawing/2014/main" id="{73F804E7-6ED1-4161-8C22-4CB1C70ED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7354" y="2168612"/>
            <a:ext cx="3355704" cy="236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0" rIns="9000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es-419" altLang="ko-KR" sz="13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IMPROVEMENTS</a:t>
            </a:r>
            <a:endParaRPr kumimoji="1" lang="ko-KR" altLang="en-US" sz="1300" b="1" i="0" u="none" strike="noStrike" kern="120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7" name="Text Box 22">
            <a:extLst>
              <a:ext uri="{FF2B5EF4-FFF2-40B4-BE49-F238E27FC236}">
                <a16:creationId xmlns:a16="http://schemas.microsoft.com/office/drawing/2014/main" id="{018B34FB-86FD-426E-BD3D-63EF79032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88" y="2433268"/>
            <a:ext cx="3136204" cy="771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171450" indent="-171450" defTabSz="914400" latinLnBrk="1">
              <a:buFontTx/>
              <a:buChar char="-"/>
              <a:defRPr/>
            </a:pPr>
            <a:r>
              <a:rPr kumimoji="0"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At every changeover the operator had to scroll through a flat list of 113+ modules, in load order, to find the model to run.</a:t>
            </a:r>
          </a:p>
        </p:txBody>
      </p:sp>
      <p:sp>
        <p:nvSpPr>
          <p:cNvPr id="100" name="Text Box 22">
            <a:extLst>
              <a:ext uri="{FF2B5EF4-FFF2-40B4-BE49-F238E27FC236}">
                <a16:creationId xmlns:a16="http://schemas.microsoft.com/office/drawing/2014/main" id="{281CC93F-E659-4A34-B26F-E7FDC768F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2320" y="2212848"/>
            <a:ext cx="2633472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defPPr>
              <a:defRPr lang="en-US"/>
            </a:defPPr>
            <a:lvl1pPr algn="just" eaLnBrk="0" hangingPunct="0">
              <a:defRPr kumimoji="1" sz="11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>
              <a:spcAft>
                <a:spcPts val="300"/>
              </a:spcAft>
              <a:buNone/>
            </a:pPr>
            <a:r>
              <a:rPr lang="en-US" altLang="ko-KR" sz="1400" b="1" dirty="0"/>
              <a:t>EFFECT:</a:t>
            </a:r>
          </a:p>
          <a:p>
            <a:pPr marL="171450" indent="-171450" algn="l">
              <a:buFont typeface="Arial"/>
              <a:buChar char="•"/>
            </a:pPr>
            <a:r>
              <a:rPr lang="en-US" altLang="ko-KR" sz="1000" dirty="0"/>
              <a:t>Finding the model at changeover now takes one tap plus a short list.</a:t>
            </a:r>
          </a:p>
        </p:txBody>
      </p:sp>
      <p:graphicFrame>
        <p:nvGraphicFramePr>
          <p:cNvPr id="104" name="표 103">
            <a:extLst>
              <a:ext uri="{FF2B5EF4-FFF2-40B4-BE49-F238E27FC236}">
                <a16:creationId xmlns:a16="http://schemas.microsoft.com/office/drawing/2014/main" id="{7217E0C3-3242-462A-86FE-317BCFA54321}"/>
              </a:ext>
            </a:extLst>
          </p:cNvPr>
          <p:cNvGraphicFramePr>
            <a:graphicFrameLocks noGrp="1"/>
          </p:cNvGraphicFramePr>
          <p:nvPr/>
        </p:nvGraphicFramePr>
        <p:xfrm>
          <a:off x="8802980" y="1466757"/>
          <a:ext cx="1012824" cy="350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7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6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192"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00" b="1" kern="900" spc="0" baseline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 Level</a:t>
                      </a:r>
                      <a:r>
                        <a:rPr lang="ko-KR" altLang="en-US" sz="700" b="1" kern="900" spc="0" baseline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구분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 kern="900" spc="-1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 kern="900" spc="-1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A2D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정보화</a:t>
                      </a:r>
                      <a:endParaRPr kumimoji="0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지능화</a:t>
                      </a:r>
                      <a:endParaRPr kumimoji="0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8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5" name="표 104">
            <a:extLst>
              <a:ext uri="{FF2B5EF4-FFF2-40B4-BE49-F238E27FC236}">
                <a16:creationId xmlns:a16="http://schemas.microsoft.com/office/drawing/2014/main" id="{275A48A6-063A-4695-8225-5094514F8224}"/>
              </a:ext>
            </a:extLst>
          </p:cNvPr>
          <p:cNvGraphicFramePr>
            <a:graphicFrameLocks noGrp="1"/>
          </p:cNvGraphicFramePr>
          <p:nvPr/>
        </p:nvGraphicFramePr>
        <p:xfrm>
          <a:off x="8807451" y="560208"/>
          <a:ext cx="1012827" cy="8744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1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485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ko-KR" altLang="en-US" sz="700" b="1" kern="9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영역</a:t>
                      </a:r>
                      <a:endParaRPr lang="en-US" altLang="ko-KR" sz="700" b="1" kern="900" spc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700" b="1" kern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Analog</a:t>
                      </a:r>
                      <a:br>
                        <a:rPr lang="en-US" altLang="ko-KR" sz="700" b="1" kern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1" kern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BP</a:t>
                      </a:r>
                      <a:endParaRPr lang="ko-KR" altLang="en-US" sz="700" b="1" kern="9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700" b="1" kern="900" spc="-30" baseline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</a:t>
                      </a:r>
                      <a:br>
                        <a:rPr lang="en-US" altLang="ko-KR" sz="700" b="1" kern="900" spc="-30" baseline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1" kern="900" spc="-30" baseline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BP</a:t>
                      </a:r>
                      <a:endParaRPr lang="ko-KR" altLang="en-US" sz="700" b="1" kern="900" spc="-30" baseline="0" dirty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이물</a:t>
                      </a:r>
                      <a:r>
                        <a:rPr lang="en-US" altLang="ko-KR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생산성</a:t>
                      </a:r>
                      <a:endParaRPr lang="en-US" altLang="ko-KR" sz="7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성능</a:t>
                      </a:r>
                      <a:r>
                        <a:rPr lang="en-US" altLang="ko-KR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품질</a:t>
                      </a:r>
                      <a:endParaRPr lang="en-US" altLang="ko-KR" sz="700" b="1" i="0" u="none" strike="noStrike" spc="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○</a:t>
                      </a: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프로세스</a:t>
                      </a:r>
                      <a:endParaRPr lang="en-US" altLang="ko-KR" sz="700" b="1" i="0" u="none" strike="noStrike" spc="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8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안전환경</a:t>
                      </a:r>
                      <a:endParaRPr lang="en-US" altLang="ko-KR" sz="700" b="1" i="0" u="none" strike="noStrike" spc="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88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고객가치</a:t>
                      </a:r>
                      <a:endParaRPr lang="en-US" altLang="ko-KR" sz="700" b="1" i="0" u="none" strike="noStrike" spc="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1280698"/>
                  </a:ext>
                </a:extLst>
              </a:tr>
            </a:tbl>
          </a:graphicData>
        </a:graphic>
      </p:graphicFrame>
      <p:graphicFrame>
        <p:nvGraphicFramePr>
          <p:cNvPr id="106" name="표 105">
            <a:extLst>
              <a:ext uri="{FF2B5EF4-FFF2-40B4-BE49-F238E27FC236}">
                <a16:creationId xmlns:a16="http://schemas.microsoft.com/office/drawing/2014/main" id="{01739F50-273D-88B9-0185-931B6BCAB9B7}"/>
              </a:ext>
            </a:extLst>
          </p:cNvPr>
          <p:cNvGraphicFramePr>
            <a:graphicFrameLocks noGrp="1"/>
          </p:cNvGraphicFramePr>
          <p:nvPr/>
        </p:nvGraphicFramePr>
        <p:xfrm>
          <a:off x="7090565" y="28296"/>
          <a:ext cx="1658127" cy="259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l" latinLnBrk="1"/>
                      <a:r>
                        <a:rPr lang="ko-KR" altLang="en-US" sz="800" b="1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전파</a:t>
                      </a:r>
                      <a:endParaRPr lang="en-US" altLang="ko-KR" sz="800" b="1" spc="-1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광학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전장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CTO</a:t>
                      </a:r>
                      <a:endParaRPr lang="ko-KR" altLang="en-US" sz="800" b="1" kern="900" spc="-1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생기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품질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9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△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△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△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△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X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X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8" name="Text Box 22">
            <a:extLst>
              <a:ext uri="{FF2B5EF4-FFF2-40B4-BE49-F238E27FC236}">
                <a16:creationId xmlns:a16="http://schemas.microsoft.com/office/drawing/2014/main" id="{4943835B-8DA4-4869-8C18-DA8250B684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304" y="4846320"/>
            <a:ext cx="2194560" cy="237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0" rIns="9000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s-419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PROBLEM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114F125-DEDC-4A5E-83D0-32A8D040BE99}"/>
              </a:ext>
            </a:extLst>
          </p:cNvPr>
          <p:cNvSpPr/>
          <p:nvPr/>
        </p:nvSpPr>
        <p:spPr>
          <a:xfrm>
            <a:off x="8543390" y="3093457"/>
            <a:ext cx="600604" cy="40664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3" name="Text Box 22">
            <a:extLst>
              <a:ext uri="{FF2B5EF4-FFF2-40B4-BE49-F238E27FC236}">
                <a16:creationId xmlns:a16="http://schemas.microsoft.com/office/drawing/2014/main" id="{8287475F-9343-43DB-A22C-AE7C32D6C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8416" y="2432304"/>
            <a:ext cx="361188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>
              <a:buNone/>
            </a:pPr>
            <a:r>
              <a:rPr lang="en-US" altLang="ko-KR" sz="1000" dirty="0"/>
              <a:t>Model filter buttons added above the module list. Each button is a model number (1-15) and shows the variants it has (L, R, X). One tap shows only that model; TODOS shows the full list.</a:t>
            </a:r>
          </a:p>
        </p:txBody>
      </p:sp>
      <p:sp>
        <p:nvSpPr>
          <p:cNvPr id="46" name="Text Box 22">
            <a:extLst>
              <a:ext uri="{FF2B5EF4-FFF2-40B4-BE49-F238E27FC236}">
                <a16:creationId xmlns:a16="http://schemas.microsoft.com/office/drawing/2014/main" id="{FDA1CAA0-6C50-4F01-AABF-43A416B50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" y="5102352"/>
            <a:ext cx="2999232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>
              <a:spcAft>
                <a:spcPts val="400"/>
              </a:spcAft>
              <a:buNone/>
            </a:pPr>
            <a:r>
              <a:rPr lang="en-US" altLang="ko-KR" sz="1000" dirty="0"/>
              <a:t>No grouping by model: variants of the same model (L, R, X and revisions MM00, MM10, MM20...) were scattered across the list.</a:t>
            </a:r>
          </a:p>
          <a:p>
            <a:pPr algn="l">
              <a:buNone/>
            </a:pPr>
            <a:r>
              <a:rPr lang="en-US" altLang="ko-KR" sz="1000" dirty="0"/>
              <a:t>The search was slow and it was easy to pick a similar name by mistake, on a step that is on the critical path of the changeover.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2C7A66-96E5-67E7-0D50-F80DB89DD3EB}"/>
              </a:ext>
            </a:extLst>
          </p:cNvPr>
          <p:cNvSpPr txBox="1"/>
          <p:nvPr/>
        </p:nvSpPr>
        <p:spPr>
          <a:xfrm>
            <a:off x="4250616" y="576400"/>
            <a:ext cx="449807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555"/>
              </a:spcAft>
            </a:pPr>
            <a:r>
              <a:rPr lang="ko-KR" altLang="en-US" sz="1000" spc="-29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■ Date : </a:t>
            </a:r>
            <a:r>
              <a:rPr lang="es-MX" altLang="ko-KR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18</a:t>
            </a:r>
            <a:r>
              <a:rPr lang="en-US" altLang="ko-KR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/09/2026</a:t>
            </a:r>
            <a:r>
              <a:rPr lang="ko-KR" altLang="en-US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spc="-29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■ Writer : </a:t>
            </a:r>
            <a:r>
              <a:rPr lang="es-MX" altLang="ko-KR" sz="1000" spc="-29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Guillermo Carrillo</a:t>
            </a:r>
            <a:r>
              <a:rPr lang="en-US" altLang="ko-KR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</a:t>
            </a:r>
            <a:r>
              <a:rPr lang="ko-KR" altLang="en-US" sz="1000" spc="-29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■ Division: </a:t>
            </a:r>
            <a:r>
              <a:rPr lang="en-US" altLang="ko-KR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CM</a:t>
            </a:r>
            <a:r>
              <a:rPr lang="ko-KR" altLang="en-US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</a:t>
            </a:r>
            <a:r>
              <a:rPr lang="ko-KR" altLang="en-US" sz="1000" spc="-29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■ Team:</a:t>
            </a:r>
            <a:r>
              <a:rPr lang="ko-KR" altLang="en-US" sz="1000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Production</a:t>
            </a:r>
          </a:p>
        </p:txBody>
      </p:sp>
      <p:sp>
        <p:nvSpPr>
          <p:cNvPr id="41" name="Text Box 22">
            <a:extLst>
              <a:ext uri="{FF2B5EF4-FFF2-40B4-BE49-F238E27FC236}">
                <a16:creationId xmlns:a16="http://schemas.microsoft.com/office/drawing/2014/main" id="{281CC93F-E659-4A34-B26F-E7FDC768F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2320" y="4206240"/>
            <a:ext cx="2633472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defPPr>
              <a:defRPr lang="en-US"/>
            </a:defPPr>
            <a:lvl1pPr algn="just" eaLnBrk="0" hangingPunct="0">
              <a:defRPr kumimoji="1" sz="11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>
              <a:spcAft>
                <a:spcPts val="300"/>
              </a:spcAft>
              <a:buNone/>
            </a:pPr>
            <a:r>
              <a:rPr lang="en-US" altLang="ko-KR" sz="1400" b="1" dirty="0"/>
              <a:t>IMPACT: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n-US" altLang="ko-KR" sz="900" dirty="0"/>
              <a:t>About 35 s saved per changeover in the model search.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n-US" altLang="ko-KR" sz="900" dirty="0"/>
              <a:t>Lower risk of picking the wrong model: only its variants are shown.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n-US" altLang="ko-KR" sz="900" dirty="0"/>
              <a:t>Applicable to other stations with the same Lot screen.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5870448"/>
            <a:ext cx="361188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LG스마트체 Regular" panose="020B0600000101010101" pitchFamily="34" charset="-127"/>
                <a:ea typeface="LG스마트체 Regular" panose="020B0600000101010101" pitchFamily="34" charset="-127"/>
              </a:rPr>
              <a:t>TODOS keeps the full list available and CHANGE works as before, so the operator workflow stays the same.</a:t>
            </a:r>
          </a:p>
        </p:txBody>
      </p:sp>
      <p:sp>
        <p:nvSpPr>
          <p:cNvPr id="401" name="Added box 401"/>
          <p:cNvSpPr/>
          <p:nvPr/>
        </p:nvSpPr>
        <p:spPr>
          <a:xfrm>
            <a:off x="201168" y="3182112"/>
            <a:ext cx="2834640" cy="164592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txBody>
          <a:bodyPr wrap="square" lIns="36000" tIns="18000" rIns="36000" bIns="18000" anchor="ctr"/>
          <a:lstStyle/>
          <a:p>
            <a:pPr algn="l"/>
            <a:r>
              <a:rPr lang="en-US" altLang="ko-KR" sz="750" b="1" dirty="0">
                <a:solidFill>
                  <a:srgbClr val="A50034"/>
                </a:solidFill>
                <a:latin typeface="Arial"/>
                <a:cs typeface="Arial"/>
              </a:rPr>
              <a:t>Before: one flat list, load order (113+ entries)</a:t>
            </a:r>
          </a:p>
        </p:txBody>
      </p:sp>
      <p:pic>
        <p:nvPicPr>
          <p:cNvPr id="501" name="Lot screen before" descr="Lot screen befo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3364992"/>
            <a:ext cx="2852928" cy="1383882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402" name="Added box 402"/>
          <p:cNvSpPr/>
          <p:nvPr/>
        </p:nvSpPr>
        <p:spPr>
          <a:xfrm>
            <a:off x="3346704" y="3154680"/>
            <a:ext cx="3566160" cy="164592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txBody>
          <a:bodyPr wrap="square" lIns="36000" tIns="18000" rIns="36000" bIns="18000" anchor="ctr"/>
          <a:lstStyle/>
          <a:p>
            <a:pPr algn="l"/>
            <a:r>
              <a:rPr lang="en-US" altLang="ko-KR" sz="750" b="1" dirty="0">
                <a:solidFill>
                  <a:srgbClr val="00703C"/>
                </a:solidFill>
                <a:latin typeface="Arial"/>
                <a:cs typeface="Arial"/>
              </a:rPr>
              <a:t>After: filter by model number (model 6 selected → 10 entries)</a:t>
            </a:r>
          </a:p>
        </p:txBody>
      </p:sp>
      <p:pic>
        <p:nvPicPr>
          <p:cNvPr id="502" name="Lot screen after" descr="Lot screen aft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3337560"/>
            <a:ext cx="3566160" cy="1579731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403" name="Added box 403"/>
          <p:cNvSpPr/>
          <p:nvPr/>
        </p:nvSpPr>
        <p:spPr>
          <a:xfrm>
            <a:off x="3346704" y="5072739"/>
            <a:ext cx="3566160" cy="164592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txBody>
          <a:bodyPr wrap="square" lIns="36000" tIns="18000" rIns="36000" bIns="18000" anchor="ctr"/>
          <a:lstStyle/>
          <a:p>
            <a:pPr algn="l"/>
            <a:r>
              <a:rPr lang="en-US" altLang="ko-KR" sz="750" b="1" dirty="0">
                <a:solidFill>
                  <a:srgbClr val="595959"/>
                </a:solidFill>
                <a:latin typeface="Arial"/>
                <a:cs typeface="Arial"/>
              </a:rPr>
              <a:t>How the module name maps to the buttons</a:t>
            </a:r>
          </a:p>
        </p:txBody>
      </p:sp>
      <p:sp>
        <p:nvSpPr>
          <p:cNvPr id="404" name="Added box 404"/>
          <p:cNvSpPr/>
          <p:nvPr/>
        </p:nvSpPr>
        <p:spPr>
          <a:xfrm>
            <a:off x="3401568" y="5264763"/>
            <a:ext cx="868680" cy="27432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altLang="ko-KR" sz="1000" b="1" dirty="0">
                <a:solidFill>
                  <a:srgbClr val="404040"/>
                </a:solidFill>
                <a:latin typeface="Arial"/>
                <a:cs typeface="Arial"/>
              </a:rPr>
              <a:t>ACS05S</a:t>
            </a:r>
          </a:p>
        </p:txBody>
      </p:sp>
      <p:sp>
        <p:nvSpPr>
          <p:cNvPr id="405" name="Added box 405"/>
          <p:cNvSpPr/>
          <p:nvPr/>
        </p:nvSpPr>
        <p:spPr>
          <a:xfrm>
            <a:off x="3401568" y="5548227"/>
            <a:ext cx="868680" cy="155448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altLang="ko-KR" sz="650" dirty="0">
                <a:solidFill>
                  <a:srgbClr val="595959"/>
                </a:solidFill>
                <a:latin typeface="Arial"/>
                <a:cs typeface="Arial"/>
              </a:rPr>
              <a:t>family</a:t>
            </a:r>
          </a:p>
        </p:txBody>
      </p:sp>
      <p:sp>
        <p:nvSpPr>
          <p:cNvPr id="406" name="Added box 406"/>
          <p:cNvSpPr/>
          <p:nvPr/>
        </p:nvSpPr>
        <p:spPr>
          <a:xfrm>
            <a:off x="4343400" y="5264763"/>
            <a:ext cx="777240" cy="274320"/>
          </a:xfrm>
          <a:prstGeom prst="rect">
            <a:avLst/>
          </a:prstGeom>
          <a:solidFill>
            <a:srgbClr val="A50034"/>
          </a:solidFill>
          <a:ln w="6350"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altLang="ko-KR" sz="1000" b="1" dirty="0">
                <a:solidFill>
                  <a:srgbClr val="FFFFFF"/>
                </a:solidFill>
                <a:latin typeface="Arial"/>
                <a:cs typeface="Arial"/>
              </a:rPr>
              <a:t>006</a:t>
            </a:r>
          </a:p>
        </p:txBody>
      </p:sp>
      <p:sp>
        <p:nvSpPr>
          <p:cNvPr id="407" name="Added box 407"/>
          <p:cNvSpPr/>
          <p:nvPr/>
        </p:nvSpPr>
        <p:spPr>
          <a:xfrm>
            <a:off x="4343400" y="5548227"/>
            <a:ext cx="777240" cy="155448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altLang="ko-KR" sz="650" dirty="0">
                <a:solidFill>
                  <a:srgbClr val="595959"/>
                </a:solidFill>
                <a:latin typeface="Arial"/>
                <a:cs typeface="Arial"/>
              </a:rPr>
              <a:t>model → button</a:t>
            </a:r>
          </a:p>
        </p:txBody>
      </p:sp>
      <p:sp>
        <p:nvSpPr>
          <p:cNvPr id="408" name="Added box 408"/>
          <p:cNvSpPr/>
          <p:nvPr/>
        </p:nvSpPr>
        <p:spPr>
          <a:xfrm>
            <a:off x="5193792" y="5264763"/>
            <a:ext cx="640080" cy="274320"/>
          </a:xfrm>
          <a:prstGeom prst="rect">
            <a:avLst/>
          </a:prstGeom>
          <a:solidFill>
            <a:srgbClr val="595959"/>
          </a:solidFill>
          <a:ln w="6350"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altLang="ko-KR" sz="1000" b="1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</a:p>
        </p:txBody>
      </p:sp>
      <p:sp>
        <p:nvSpPr>
          <p:cNvPr id="409" name="Added box 409"/>
          <p:cNvSpPr/>
          <p:nvPr/>
        </p:nvSpPr>
        <p:spPr>
          <a:xfrm>
            <a:off x="5193792" y="5548227"/>
            <a:ext cx="640080" cy="155448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altLang="ko-KR" sz="650" dirty="0">
                <a:solidFill>
                  <a:srgbClr val="595959"/>
                </a:solidFill>
                <a:latin typeface="Arial"/>
                <a:cs typeface="Arial"/>
              </a:rPr>
              <a:t>L / R / X</a:t>
            </a:r>
          </a:p>
        </p:txBody>
      </p:sp>
      <p:sp>
        <p:nvSpPr>
          <p:cNvPr id="410" name="Added box 410"/>
          <p:cNvSpPr/>
          <p:nvPr/>
        </p:nvSpPr>
        <p:spPr>
          <a:xfrm>
            <a:off x="5907024" y="5264763"/>
            <a:ext cx="868680" cy="27432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altLang="ko-KR" sz="1000" b="1" dirty="0">
                <a:solidFill>
                  <a:srgbClr val="404040"/>
                </a:solidFill>
                <a:latin typeface="Arial"/>
                <a:cs typeface="Arial"/>
              </a:rPr>
              <a:t>.MM00</a:t>
            </a:r>
          </a:p>
        </p:txBody>
      </p:sp>
      <p:sp>
        <p:nvSpPr>
          <p:cNvPr id="411" name="Added box 411"/>
          <p:cNvSpPr/>
          <p:nvPr/>
        </p:nvSpPr>
        <p:spPr>
          <a:xfrm>
            <a:off x="5907024" y="5548227"/>
            <a:ext cx="868680" cy="155448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altLang="ko-KR" sz="650" dirty="0">
                <a:solidFill>
                  <a:srgbClr val="595959"/>
                </a:solidFill>
                <a:latin typeface="Arial"/>
                <a:cs typeface="Arial"/>
              </a:rPr>
              <a:t>revision</a:t>
            </a:r>
          </a:p>
        </p:txBody>
      </p:sp>
      <p:sp>
        <p:nvSpPr>
          <p:cNvPr id="412" name="Added box 412"/>
          <p:cNvSpPr/>
          <p:nvPr/>
        </p:nvSpPr>
        <p:spPr>
          <a:xfrm>
            <a:off x="7223760" y="2999232"/>
            <a:ext cx="804672" cy="5486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altLang="ko-KR" sz="1300" b="1" dirty="0">
                <a:solidFill>
                  <a:srgbClr val="A50034"/>
                </a:solidFill>
                <a:latin typeface="Arial"/>
                <a:cs typeface="Arial"/>
              </a:rPr>
              <a:t>~45 s</a:t>
            </a:r>
          </a:p>
          <a:p>
            <a:pPr algn="ctr"/>
            <a:r>
              <a:rPr lang="en-US" altLang="ko-KR" sz="700" dirty="0">
                <a:solidFill>
                  <a:srgbClr val="404040"/>
                </a:solidFill>
                <a:latin typeface="Arial"/>
                <a:cs typeface="Arial"/>
              </a:rPr>
              <a:t>search before</a:t>
            </a:r>
          </a:p>
        </p:txBody>
      </p:sp>
      <p:sp>
        <p:nvSpPr>
          <p:cNvPr id="413" name="Added box 413"/>
          <p:cNvSpPr/>
          <p:nvPr/>
        </p:nvSpPr>
        <p:spPr>
          <a:xfrm>
            <a:off x="8101583" y="2999232"/>
            <a:ext cx="804672" cy="5486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altLang="ko-KR" sz="1300" b="1" dirty="0">
                <a:solidFill>
                  <a:srgbClr val="00703C"/>
                </a:solidFill>
                <a:latin typeface="Arial"/>
                <a:cs typeface="Arial"/>
              </a:rPr>
              <a:t>~10 s</a:t>
            </a:r>
          </a:p>
          <a:p>
            <a:pPr algn="ctr"/>
            <a:r>
              <a:rPr lang="en-US" altLang="ko-KR" sz="700" dirty="0">
                <a:solidFill>
                  <a:srgbClr val="404040"/>
                </a:solidFill>
                <a:latin typeface="Arial"/>
                <a:cs typeface="Arial"/>
              </a:rPr>
              <a:t>search after</a:t>
            </a:r>
          </a:p>
        </p:txBody>
      </p:sp>
      <p:sp>
        <p:nvSpPr>
          <p:cNvPr id="414" name="Added box 414"/>
          <p:cNvSpPr/>
          <p:nvPr/>
        </p:nvSpPr>
        <p:spPr>
          <a:xfrm>
            <a:off x="8979408" y="2999232"/>
            <a:ext cx="804672" cy="5486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altLang="ko-KR" sz="1300" b="1" dirty="0">
                <a:solidFill>
                  <a:srgbClr val="00703C"/>
                </a:solidFill>
                <a:latin typeface="Arial"/>
                <a:cs typeface="Arial"/>
              </a:rPr>
              <a:t>-78%</a:t>
            </a:r>
          </a:p>
          <a:p>
            <a:pPr algn="ctr"/>
            <a:r>
              <a:rPr lang="en-US" altLang="ko-KR" sz="700" dirty="0">
                <a:solidFill>
                  <a:srgbClr val="404040"/>
                </a:solidFill>
                <a:latin typeface="Arial"/>
                <a:cs typeface="Arial"/>
              </a:rPr>
              <a:t>search time</a:t>
            </a:r>
          </a:p>
        </p:txBody>
      </p:sp>
      <p:sp>
        <p:nvSpPr>
          <p:cNvPr id="415" name="Added box 415"/>
          <p:cNvSpPr/>
          <p:nvPr/>
        </p:nvSpPr>
        <p:spPr>
          <a:xfrm>
            <a:off x="7223760" y="3621024"/>
            <a:ext cx="1207008" cy="5029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altLang="ko-KR" sz="1200" b="1" dirty="0">
                <a:solidFill>
                  <a:srgbClr val="A50034"/>
                </a:solidFill>
                <a:latin typeface="Arial"/>
                <a:cs typeface="Arial"/>
              </a:rPr>
              <a:t>113+</a:t>
            </a:r>
          </a:p>
          <a:p>
            <a:pPr algn="ctr"/>
            <a:r>
              <a:rPr lang="en-US" altLang="ko-KR" sz="700" dirty="0">
                <a:solidFill>
                  <a:srgbClr val="404040"/>
                </a:solidFill>
                <a:latin typeface="Arial"/>
                <a:cs typeface="Arial"/>
              </a:rPr>
              <a:t>entries to scan before</a:t>
            </a:r>
          </a:p>
        </p:txBody>
      </p:sp>
      <p:sp>
        <p:nvSpPr>
          <p:cNvPr id="416" name="Added box 416"/>
          <p:cNvSpPr/>
          <p:nvPr/>
        </p:nvSpPr>
        <p:spPr>
          <a:xfrm>
            <a:off x="8503920" y="3621024"/>
            <a:ext cx="1207008" cy="5029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altLang="ko-KR" sz="1200" b="1" dirty="0">
                <a:solidFill>
                  <a:srgbClr val="00703C"/>
                </a:solidFill>
                <a:latin typeface="Arial"/>
                <a:cs typeface="Arial"/>
              </a:rPr>
              <a:t>~10</a:t>
            </a:r>
          </a:p>
          <a:p>
            <a:pPr algn="ctr"/>
            <a:r>
              <a:rPr lang="en-US" altLang="ko-KR" sz="700" dirty="0">
                <a:solidFill>
                  <a:srgbClr val="404040"/>
                </a:solidFill>
                <a:latin typeface="Arial"/>
                <a:cs typeface="Arial"/>
              </a:rPr>
              <a:t>entries per model</a:t>
            </a:r>
          </a:p>
        </p:txBody>
      </p:sp>
      <p:sp>
        <p:nvSpPr>
          <p:cNvPr id="417" name="Added box 417"/>
          <p:cNvSpPr/>
          <p:nvPr/>
        </p:nvSpPr>
        <p:spPr>
          <a:xfrm>
            <a:off x="7223760" y="5596128"/>
            <a:ext cx="2523744" cy="512064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</p:spPr>
        <p:txBody>
          <a:bodyPr wrap="square" lIns="36000" tIns="18000" rIns="36000" bIns="18000" anchor="ctr"/>
          <a:lstStyle/>
          <a:p>
            <a:pPr algn="l"/>
            <a:r>
              <a:rPr lang="en-US" altLang="ko-KR" sz="800" b="1" dirty="0">
                <a:solidFill>
                  <a:srgbClr val="404040"/>
                </a:solidFill>
                <a:latin typeface="Arial"/>
                <a:cs typeface="Arial"/>
              </a:rPr>
              <a:t>Line 2 with all updates</a:t>
            </a:r>
          </a:p>
          <a:p>
            <a:pPr algn="l"/>
            <a:r>
              <a:rPr lang="en-US" altLang="ko-KR" sz="700" dirty="0">
                <a:solidFill>
                  <a:srgbClr val="404040"/>
                </a:solidFill>
                <a:latin typeface="Arial"/>
                <a:cs typeface="Arial"/>
              </a:rPr>
              <a:t>20,127 pcs on 2 Oct vs 16,678 on 12 Aug (+20.7%). 1 Oct: 17,449 pcs (controlled material), best hour 1,003.</a:t>
            </a:r>
          </a:p>
        </p:txBody>
      </p:sp>
      <p:sp>
        <p:nvSpPr>
          <p:cNvPr id="310" name="Source note"/>
          <p:cNvSpPr txBox="1"/>
          <p:nvPr/>
        </p:nvSpPr>
        <p:spPr>
          <a:xfrm>
            <a:off x="7223760" y="6217920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buNone/>
            </a:pPr>
            <a:r>
              <a:rPr lang="en-US" altLang="ko-KR" sz="650" dirty="0">
                <a:solidFill>
                  <a:srgbClr val="7F7F7F"/>
                </a:solidFill>
              </a:rPr>
              <a:t>Search times are approximate operator observations; effect on total changeover time still to be measured. Line data: hourly production report, TOP TLA Line 1.</a:t>
            </a:r>
          </a:p>
        </p:txBody>
      </p:sp>
    </p:spTree>
    <p:extLst>
      <p:ext uri="{BB962C8B-B14F-4D97-AF65-F5344CB8AC3E}">
        <p14:creationId xmlns:p14="http://schemas.microsoft.com/office/powerpoint/2010/main" val="4055971772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9b8a968-831d-4cfc-b1f9-4367a1331151}" enabled="1" method="Privileged" siteId="{e6c7989d-a5fe-4b7b-a335-3288406db2fd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895</TotalTime>
  <Words>428</Words>
  <Application>Microsoft Office PowerPoint</Application>
  <PresentationFormat>A4 Paper (210x297 mm)</PresentationFormat>
  <Paragraphs>73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바탕</vt:lpstr>
      <vt:lpstr>LG스마트체 Regular</vt:lpstr>
      <vt:lpstr>LG스마트체 SemiBold</vt:lpstr>
      <vt:lpstr>LG스마트체2.0 Bold</vt:lpstr>
      <vt:lpstr>맑은 고딕</vt:lpstr>
      <vt:lpstr>Arial</vt:lpstr>
      <vt:lpstr>Arial Narrow</vt:lpstr>
      <vt:lpstr>Wingdings</vt:lpstr>
      <vt:lpstr>3_Office 테마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haeyun Jeong(정해윤)</dc:creator>
  <cp:lastModifiedBy>Gerardo Ulises Nieto Sanchez</cp:lastModifiedBy>
  <cp:revision>54</cp:revision>
  <dcterms:created xsi:type="dcterms:W3CDTF">2024-01-23T23:13:38Z</dcterms:created>
  <dcterms:modified xsi:type="dcterms:W3CDTF">2026-10-05T14:53:57Z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9b8a968-831d-4cfc-b1f9-4367a1331151_Enabled">
    <vt:lpwstr>true</vt:lpwstr>
  </property>
  <property fmtid="{D5CDD505-2E9C-101B-9397-08002B2CF9AE}" pid="3" name="MSIP_Label_99b8a968-831d-4cfc-b1f9-4367a1331151_SetDate">
    <vt:lpwstr>2024-05-04T19:05:14Z</vt:lpwstr>
  </property>
  <property fmtid="{D5CDD505-2E9C-101B-9397-08002B2CF9AE}" pid="4" name="MSIP_Label_99b8a968-831d-4cfc-b1f9-4367a1331151_Method">
    <vt:lpwstr>Privileged</vt:lpwstr>
  </property>
  <property fmtid="{D5CDD505-2E9C-101B-9397-08002B2CF9AE}" pid="5" name="MSIP_Label_99b8a968-831d-4cfc-b1f9-4367a1331151_Name">
    <vt:lpwstr>Confidential</vt:lpwstr>
  </property>
  <property fmtid="{D5CDD505-2E9C-101B-9397-08002B2CF9AE}" pid="6" name="MSIP_Label_99b8a968-831d-4cfc-b1f9-4367a1331151_SiteId">
    <vt:lpwstr>e6c7989d-a5fe-4b7b-a335-3288406db2fd</vt:lpwstr>
  </property>
  <property fmtid="{D5CDD505-2E9C-101B-9397-08002B2CF9AE}" pid="7" name="MSIP_Label_99b8a968-831d-4cfc-b1f9-4367a1331151_ActionId">
    <vt:lpwstr>66310290-fea6-40d2-83bd-c8b58c1b5aea</vt:lpwstr>
  </property>
  <property fmtid="{D5CDD505-2E9C-101B-9397-08002B2CF9AE}" pid="8" name="MSIP_Label_99b8a968-831d-4cfc-b1f9-4367a1331151_ContentBits">
    <vt:lpwstr>3</vt:lpwstr>
  </property>
</Properties>
</file>