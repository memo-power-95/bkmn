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43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7" autoAdjust="0"/>
    <p:restoredTop sz="95332" autoAdjust="0"/>
  </p:normalViewPr>
  <p:slideViewPr>
    <p:cSldViewPr snapToGrid="0">
      <p:cViewPr varScale="1">
        <p:scale>
          <a:sx n="112" d="100"/>
          <a:sy n="112" d="100"/>
        </p:scale>
        <p:origin x="11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EB0B-3736-454C-BDC9-CFE6B03A8AAF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46203-DBE1-497C-BB2D-98327BF1F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952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5264">
              <a:defRPr/>
            </a:pPr>
            <a:endParaRPr lang="en-US" altLang="ko-KR" dirty="0">
              <a:solidFill>
                <a:schemeClr val="tx1"/>
              </a:solidFill>
              <a:latin typeface="Arial Narrow" pitchFamily="34" charset="0"/>
              <a:ea typeface="가는둥근제목체" pitchFamily="18" charset="-127"/>
              <a:cs typeface="Times New Roman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43883B-7D6F-4E64-B93B-9457A9247E9C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26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695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744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 txBox="1">
            <a:spLocks noChangeArrowheads="1"/>
          </p:cNvSpPr>
          <p:nvPr userDrawn="1"/>
        </p:nvSpPr>
        <p:spPr bwMode="auto">
          <a:xfrm>
            <a:off x="100000" y="536107"/>
            <a:ext cx="800477" cy="16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eaLnBrk="1" fontAlgn="auto" hangingPunct="1">
              <a:spcAft>
                <a:spcPts val="0"/>
              </a:spcAft>
              <a:defRPr sz="20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lnSpc>
                <a:spcPct val="90000"/>
              </a:lnSpc>
            </a:pPr>
            <a:r>
              <a:rPr lang="ko-KR" altLang="en-US" sz="1200" b="1" u="none" spc="-30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☞</a:t>
            </a:r>
            <a:r>
              <a:rPr lang="ko-KR" altLang="en-US" sz="1200" b="1" u="none" spc="-30" dirty="0">
                <a:solidFill>
                  <a:schemeClr val="tx1"/>
                </a:solidFill>
              </a:rPr>
              <a:t> </a:t>
            </a:r>
            <a:r>
              <a:rPr lang="en-US" altLang="ko-KR" sz="1200" b="1" u="none" spc="-30" dirty="0">
                <a:solidFill>
                  <a:schemeClr val="tx1"/>
                </a:solidFill>
              </a:rPr>
              <a:t>Idea </a:t>
            </a:r>
            <a:r>
              <a:rPr lang="ko-KR" altLang="en-US" sz="1200" b="1" u="none" spc="-30" dirty="0">
                <a:solidFill>
                  <a:schemeClr val="tx1"/>
                </a:solidFill>
              </a:rPr>
              <a:t>발상</a:t>
            </a:r>
            <a:endParaRPr lang="en-US" altLang="ko-KR" sz="1800" b="1" u="none" spc="-30" dirty="0">
              <a:solidFill>
                <a:schemeClr val="tx1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012BBBE0-E98F-588B-E7C8-2FCC7B62B52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6013" y="507035"/>
            <a:ext cx="8957817" cy="1048"/>
          </a:xfrm>
          <a:prstGeom prst="line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solidFill>
                <a:prstClr val="black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06BEC9B-7510-3F9F-4052-5C6CCCB795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45550" y="254538"/>
            <a:ext cx="924824" cy="269374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B8192F-9FA3-6243-E1A7-4CD2AC29FCAE}"/>
              </a:ext>
            </a:extLst>
          </p:cNvPr>
          <p:cNvSpPr txBox="1"/>
          <p:nvPr userDrawn="1"/>
        </p:nvSpPr>
        <p:spPr>
          <a:xfrm>
            <a:off x="7635488" y="322539"/>
            <a:ext cx="114382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○ 완료</a:t>
            </a:r>
            <a:r>
              <a:rPr lang="en-US" altLang="ko-KR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△ 진행 중</a:t>
            </a:r>
            <a:r>
              <a:rPr lang="en-US" altLang="ko-KR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, X </a:t>
            </a:r>
            <a:r>
              <a:rPr lang="ko-KR" altLang="en-US" sz="800" spc="-4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불필요</a:t>
            </a:r>
            <a:endParaRPr lang="ko-KR" altLang="en-US" sz="800" spc="-40" baseline="0" dirty="0">
              <a:solidFill>
                <a:prstClr val="black">
                  <a:lumMod val="65000"/>
                  <a:lumOff val="35000"/>
                </a:prst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MSIPCMContentMarking" descr="{&quot;HashCode&quot;:1951497329,&quot;Placement&quot;:&quot;Footer&quot;,&quot;Top&quot;:521.91,&quot;Left&quot;:0.0,&quot;SlideWidth&quot;:780,&quot;SlideHeight&quot;:540}">
            <a:extLst>
              <a:ext uri="{FF2B5EF4-FFF2-40B4-BE49-F238E27FC236}">
                <a16:creationId xmlns:a16="http://schemas.microsoft.com/office/drawing/2014/main" id="{12AAB368-A7C1-43AE-BFC6-ABE9638B5267}"/>
              </a:ext>
            </a:extLst>
          </p:cNvPr>
          <p:cNvSpPr txBox="1"/>
          <p:nvPr userDrawn="1"/>
        </p:nvSpPr>
        <p:spPr>
          <a:xfrm>
            <a:off x="0" y="6628257"/>
            <a:ext cx="4632731" cy="2297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900">
                <a:solidFill>
                  <a:srgbClr val="808080"/>
                </a:solidFill>
                <a:latin typeface="LG스마트체 SemiBold" panose="020B0600000101010101" pitchFamily="50" charset="-127"/>
              </a:rPr>
              <a:t>LG Innotek Confidential : This document is protected by security policies and laws.</a:t>
            </a:r>
            <a:endParaRPr lang="ko-KR" altLang="en-US" sz="900">
              <a:solidFill>
                <a:srgbClr val="808080"/>
              </a:solidFill>
              <a:latin typeface="LG스마트체 SemiBold" panose="020B0600000101010101" pitchFamily="50" charset="-127"/>
            </a:endParaRPr>
          </a:p>
        </p:txBody>
      </p:sp>
      <p:sp>
        <p:nvSpPr>
          <p:cNvPr id="5" name="MSIPCMContentMarking" descr="{&quot;HashCode&quot;:166943725,&quot;Placement&quot;:&quot;Header&quot;,&quot;Top&quot;:0.0,&quot;Left&quot;:685.0934,&quot;SlideWidth&quot;:780,&quot;SlideHeight&quot;:540}">
            <a:extLst>
              <a:ext uri="{FF2B5EF4-FFF2-40B4-BE49-F238E27FC236}">
                <a16:creationId xmlns:a16="http://schemas.microsoft.com/office/drawing/2014/main" id="{1C6DA701-D2FC-45C4-96C0-A0240BD62C56}"/>
              </a:ext>
            </a:extLst>
          </p:cNvPr>
          <p:cNvSpPr txBox="1"/>
          <p:nvPr userDrawn="1"/>
        </p:nvSpPr>
        <p:spPr>
          <a:xfrm>
            <a:off x="8700686" y="0"/>
            <a:ext cx="1205314" cy="2604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C0004B"/>
                </a:solidFill>
                <a:latin typeface="LG스마트체2.0 Bold" panose="020B0600000101010101" pitchFamily="50" charset="-127"/>
              </a:rPr>
              <a:t>[Confidential]</a:t>
            </a:r>
            <a:endParaRPr lang="ko-KR" altLang="en-US" sz="1100">
              <a:solidFill>
                <a:srgbClr val="C0004B"/>
              </a:solidFill>
              <a:latin typeface="LG스마트체2.0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9210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4C45B1D-E888-4864-B011-5E6CCF1F7936}"/>
              </a:ext>
            </a:extLst>
          </p:cNvPr>
          <p:cNvGrpSpPr/>
          <p:nvPr/>
        </p:nvGrpSpPr>
        <p:grpSpPr>
          <a:xfrm>
            <a:off x="7091806" y="1855036"/>
            <a:ext cx="2728470" cy="4813582"/>
            <a:chOff x="7091806" y="1808152"/>
            <a:chExt cx="2609448" cy="4813582"/>
          </a:xfrm>
        </p:grpSpPr>
        <p:sp>
          <p:nvSpPr>
            <p:cNvPr id="56" name="AutoShape 20"/>
            <p:cNvSpPr>
              <a:spLocks noChangeArrowheads="1"/>
            </p:cNvSpPr>
            <p:nvPr/>
          </p:nvSpPr>
          <p:spPr bwMode="auto">
            <a:xfrm>
              <a:off x="7091806" y="2013357"/>
              <a:ext cx="2609448" cy="4608377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5" name="AutoShape 20"/>
            <p:cNvSpPr>
              <a:spLocks noChangeArrowheads="1"/>
            </p:cNvSpPr>
            <p:nvPr/>
          </p:nvSpPr>
          <p:spPr bwMode="auto">
            <a:xfrm>
              <a:off x="7091806" y="1808152"/>
              <a:ext cx="2609448" cy="294484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419" altLang="ko-KR" sz="1400" b="1" kern="0" dirty="0">
                  <a:solidFill>
                    <a:sysClr val="windowText" lastClr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After </a:t>
              </a:r>
              <a:r>
                <a:rPr lang="es-419" altLang="ko-KR" sz="1400" b="1" kern="0" dirty="0" err="1">
                  <a:solidFill>
                    <a:sysClr val="windowText" lastClr="00000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improvement</a:t>
              </a:r>
              <a:endPara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70F6EBB-F0F3-4470-A73A-8A760F7D4373}"/>
              </a:ext>
            </a:extLst>
          </p:cNvPr>
          <p:cNvGrpSpPr/>
          <p:nvPr/>
        </p:nvGrpSpPr>
        <p:grpSpPr>
          <a:xfrm>
            <a:off x="3203374" y="1855036"/>
            <a:ext cx="3816424" cy="4814324"/>
            <a:chOff x="3203374" y="1807410"/>
            <a:chExt cx="3816424" cy="4814324"/>
          </a:xfrm>
        </p:grpSpPr>
        <p:sp>
          <p:nvSpPr>
            <p:cNvPr id="66" name="AutoShape 20"/>
            <p:cNvSpPr>
              <a:spLocks noChangeArrowheads="1"/>
            </p:cNvSpPr>
            <p:nvPr/>
          </p:nvSpPr>
          <p:spPr bwMode="auto">
            <a:xfrm>
              <a:off x="3203374" y="2013358"/>
              <a:ext cx="3816424" cy="4608376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5" name="AutoShape 20"/>
            <p:cNvSpPr>
              <a:spLocks noChangeArrowheads="1"/>
            </p:cNvSpPr>
            <p:nvPr/>
          </p:nvSpPr>
          <p:spPr bwMode="auto">
            <a:xfrm>
              <a:off x="3203374" y="1807410"/>
              <a:ext cx="3816424" cy="291459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itchFamily="34" charset="0"/>
                </a:rPr>
                <a:t>Breakthrough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AD6F9705-D935-4A94-8CF5-843F594B71F8}"/>
              </a:ext>
            </a:extLst>
          </p:cNvPr>
          <p:cNvGrpSpPr/>
          <p:nvPr/>
        </p:nvGrpSpPr>
        <p:grpSpPr>
          <a:xfrm>
            <a:off x="118050" y="1817277"/>
            <a:ext cx="3047476" cy="4813582"/>
            <a:chOff x="161878" y="1808152"/>
            <a:chExt cx="2969488" cy="4813582"/>
          </a:xfrm>
        </p:grpSpPr>
        <p:sp>
          <p:nvSpPr>
            <p:cNvPr id="44" name="AutoShape 20"/>
            <p:cNvSpPr>
              <a:spLocks noChangeArrowheads="1"/>
            </p:cNvSpPr>
            <p:nvPr/>
          </p:nvSpPr>
          <p:spPr bwMode="auto">
            <a:xfrm>
              <a:off x="161878" y="2013358"/>
              <a:ext cx="2969488" cy="4608376"/>
            </a:xfrm>
            <a:prstGeom prst="roundRect">
              <a:avLst>
                <a:gd name="adj" fmla="val 2403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3" name="AutoShape 20"/>
            <p:cNvSpPr>
              <a:spLocks noChangeArrowheads="1"/>
            </p:cNvSpPr>
            <p:nvPr/>
          </p:nvSpPr>
          <p:spPr bwMode="auto">
            <a:xfrm>
              <a:off x="161878" y="1808152"/>
              <a:ext cx="2969488" cy="294484"/>
            </a:xfrm>
            <a:prstGeom prst="roundRect">
              <a:avLst>
                <a:gd name="adj" fmla="val 10700"/>
              </a:avLst>
            </a:prstGeom>
            <a:solidFill>
              <a:schemeClr val="bg1">
                <a:lumMod val="85000"/>
              </a:schemeClr>
            </a:solidFill>
            <a:ln w="12700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 wrap="none" lIns="91429" tIns="45715" rIns="91429" bIns="45715" anchor="ctr"/>
            <a:lstStyle/>
            <a:p>
              <a:pPr algn="ctr" latinLnBrk="0">
                <a:defRPr/>
              </a:pPr>
              <a:r>
                <a:rPr lang="es-MX" altLang="ko-KR" sz="1400" b="1" kern="0" dirty="0" err="1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Before</a:t>
              </a:r>
              <a:r>
                <a:rPr lang="es-MX" altLang="ko-KR" sz="1400" b="1" kern="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 </a:t>
              </a:r>
              <a:r>
                <a:rPr lang="es-MX" altLang="ko-KR" sz="1400" b="1" kern="0" dirty="0" err="1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itchFamily="50" charset="-127"/>
                </a:rPr>
                <a:t>improvement</a:t>
              </a:r>
              <a:endParaRPr lang="ko-KR" altLang="en-US" sz="1400" b="1" kern="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itchFamily="50" charset="-127"/>
              </a:endParaRPr>
            </a:p>
          </p:txBody>
        </p:sp>
      </p:grpSp>
      <p:sp>
        <p:nvSpPr>
          <p:cNvPr id="40" name="Rectangle 4"/>
          <p:cNvSpPr txBox="1">
            <a:spLocks noChangeArrowheads="1"/>
          </p:cNvSpPr>
          <p:nvPr/>
        </p:nvSpPr>
        <p:spPr bwMode="auto">
          <a:xfrm>
            <a:off x="54755" y="102355"/>
            <a:ext cx="7105346" cy="276999"/>
          </a:xfrm>
          <a:prstGeom prst="rect">
            <a:avLst/>
          </a:prstGeom>
          <a:noFill/>
        </p:spPr>
        <p:txBody>
          <a:bodyPr wrap="square" lIns="72000" tIns="0" rIns="36000" bIns="0">
            <a:spAutoFit/>
          </a:bodyPr>
          <a:lstStyle>
            <a:defPPr>
              <a:defRPr lang="ko-KR"/>
            </a:defPPr>
            <a:lvl1pPr eaLnBrk="1" fontAlgn="auto" hangingPunct="1">
              <a:spcAft>
                <a:spcPts val="0"/>
              </a:spcAft>
              <a:defRPr sz="200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+mj-cs"/>
              </a:defRPr>
            </a:lvl1pPr>
            <a:lvl2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2pPr>
            <a:lvl3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3pPr>
            <a:lvl4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4pPr>
            <a:lvl5pPr algn="ctr" eaLnBrk="0" hangingPunct="0">
              <a:defRPr sz="4400">
                <a:solidFill>
                  <a:schemeClr val="tx2"/>
                </a:solidFill>
                <a:ea typeface="돋움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lvl="0" defTabSz="914400" latinLnBrk="1">
              <a:defRPr/>
            </a:pPr>
            <a:r>
              <a:rPr lang="en-US" altLang="ko-KR" sz="1800" b="1" spc="-30" dirty="0">
                <a:solidFill>
                  <a:prstClr val="black"/>
                </a:solidFill>
                <a:latin typeface="LG스마트체 Regular" panose="020B0600000101010101" pitchFamily="50" charset="-127"/>
              </a:rPr>
              <a:t>Fast restart function deployed across the camera line</a:t>
            </a:r>
            <a:endParaRPr kumimoji="0" lang="ko-KR" altLang="en-US" sz="1800" b="1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17817" y="1169205"/>
            <a:ext cx="8653040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latinLnBrk="1">
              <a:lnSpc>
                <a:spcPct val="110000"/>
              </a:lnSpc>
              <a:defRPr/>
            </a:pPr>
            <a:r>
              <a:rPr lang="en-US" altLang="ko-KR" sz="16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Install PCB, Fastening 1/3/4, AVI, Top Unloader and Top Cover</a:t>
            </a:r>
            <a:endParaRPr kumimoji="0" lang="en-US" altLang="ko-KR" sz="1600" b="1" i="0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6" name="Text Box 22">
            <a:extLst>
              <a:ext uri="{FF2B5EF4-FFF2-40B4-BE49-F238E27FC236}">
                <a16:creationId xmlns:a16="http://schemas.microsoft.com/office/drawing/2014/main" id="{0A503ADC-8EA4-4A95-9C09-007B0C087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23" y="2168612"/>
            <a:ext cx="2193527" cy="23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s-419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PHENOMENON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7" name="Text Box 22">
            <a:extLst>
              <a:ext uri="{FF2B5EF4-FFF2-40B4-BE49-F238E27FC236}">
                <a16:creationId xmlns:a16="http://schemas.microsoft.com/office/drawing/2014/main" id="{73F804E7-6ED1-4161-8C22-4CB1C70ED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7354" y="2168612"/>
            <a:ext cx="3355704" cy="23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s-419" altLang="ko-KR" sz="13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IMPROVEMENTS</a:t>
            </a:r>
            <a:endParaRPr kumimoji="1" lang="ko-KR" altLang="en-US" sz="1300" b="1" i="0" u="none" strike="noStrike" kern="1200" cap="none" spc="-5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" name="Text Box 22">
            <a:extLst>
              <a:ext uri="{FF2B5EF4-FFF2-40B4-BE49-F238E27FC236}">
                <a16:creationId xmlns:a16="http://schemas.microsoft.com/office/drawing/2014/main" id="{018B34FB-86FD-426E-BD3D-63EF79032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88" y="2433268"/>
            <a:ext cx="3136204" cy="771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71450" indent="-171450" defTabSz="914400" latinLnBrk="1">
              <a:buFontTx/>
              <a:buChar char="-"/>
              <a:defRPr/>
            </a:pPr>
            <a:r>
              <a:rPr kumimoji="0"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After any stop the operator had to run the full initialization, 2.5 to 3 minutes depending on the station, which reconnects the scanner, tests the cameras and restarts support processes that were already connected and verified.</a:t>
            </a:r>
          </a:p>
        </p:txBody>
      </p:sp>
      <p:sp>
        <p:nvSpPr>
          <p:cNvPr id="100" name="Text Box 22">
            <a:extLst>
              <a:ext uri="{FF2B5EF4-FFF2-40B4-BE49-F238E27FC236}">
                <a16:creationId xmlns:a16="http://schemas.microsoft.com/office/drawing/2014/main" id="{281CC93F-E659-4A34-B26F-E7FDC768F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2320" y="2212848"/>
            <a:ext cx="263347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algn="just" eaLnBrk="0" hangingPunct="0">
              <a:defRPr kumimoji="1" sz="11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>
              <a:spcAft>
                <a:spcPts val="300"/>
              </a:spcAft>
              <a:buNone/>
            </a:pPr>
            <a:r>
              <a:rPr lang="en-US" altLang="ko-KR" sz="1400" b="1" dirty="0"/>
              <a:t>EFFECT:</a:t>
            </a:r>
          </a:p>
          <a:p>
            <a:pPr marL="171450" indent="-171450" algn="l">
              <a:spcAft>
                <a:spcPts val="200"/>
              </a:spcAft>
              <a:buFont typeface="Arial"/>
              <a:buChar char="•"/>
            </a:pPr>
            <a:r>
              <a:rPr lang="en-US" altLang="ko-KR" sz="1000" dirty="0"/>
              <a:t>Restart after a stop: 2.5-3 min → 10-15 s (-90%+) on 7 stations.</a:t>
            </a:r>
          </a:p>
        </p:txBody>
      </p:sp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7217E0C3-3242-462A-86FE-317BCFA54321}"/>
              </a:ext>
            </a:extLst>
          </p:cNvPr>
          <p:cNvGraphicFramePr>
            <a:graphicFrameLocks noGrp="1"/>
          </p:cNvGraphicFramePr>
          <p:nvPr/>
        </p:nvGraphicFramePr>
        <p:xfrm>
          <a:off x="8802980" y="1466757"/>
          <a:ext cx="1012824" cy="350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192"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00" b="1" kern="900" spc="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 Level</a:t>
                      </a:r>
                      <a:r>
                        <a:rPr lang="ko-KR" altLang="en-US" sz="700" b="1" kern="900" spc="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구분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A2D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정보화</a:t>
                      </a:r>
                      <a:endParaRPr kumimoji="0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지능화</a:t>
                      </a:r>
                      <a:endParaRPr kumimoji="0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275A48A6-063A-4695-8225-5094514F8224}"/>
              </a:ext>
            </a:extLst>
          </p:cNvPr>
          <p:cNvGraphicFramePr>
            <a:graphicFrameLocks noGrp="1"/>
          </p:cNvGraphicFramePr>
          <p:nvPr/>
        </p:nvGraphicFramePr>
        <p:xfrm>
          <a:off x="8807451" y="560208"/>
          <a:ext cx="1012827" cy="874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1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8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ko-KR" altLang="en-US" sz="700" b="1" kern="900" spc="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영역</a:t>
                      </a:r>
                      <a:endParaRPr lang="en-US" altLang="ko-KR" sz="700" b="1" kern="900" spc="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Analog</a:t>
                      </a:r>
                      <a:b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1" kern="900" spc="-3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BP</a:t>
                      </a:r>
                      <a:endParaRPr lang="ko-KR" altLang="en-US" sz="700" b="1" kern="900" spc="-3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</a:pPr>
                      <a: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b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1" kern="900" spc="-30" baseline="0" dirty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BP</a:t>
                      </a:r>
                      <a:endParaRPr lang="ko-KR" altLang="en-US" sz="700" b="1" kern="900" spc="-30" baseline="0" dirty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이물</a:t>
                      </a:r>
                      <a:r>
                        <a:rPr lang="en-US" altLang="ko-KR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생산성</a:t>
                      </a:r>
                      <a:endParaRPr lang="en-US" altLang="ko-KR" sz="7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성능</a:t>
                      </a:r>
                      <a:r>
                        <a:rPr lang="en-US" altLang="ko-KR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○</a:t>
                      </a: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프로세스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안전환경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8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고객가치</a:t>
                      </a:r>
                      <a:endParaRPr lang="en-US" altLang="ko-KR" sz="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280698"/>
                  </a:ext>
                </a:extLst>
              </a:tr>
            </a:tbl>
          </a:graphicData>
        </a:graphic>
      </p:graphicFrame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01739F50-273D-88B9-0185-931B6BCAB9B7}"/>
              </a:ext>
            </a:extLst>
          </p:cNvPr>
          <p:cNvGraphicFramePr>
            <a:graphicFrameLocks noGrp="1"/>
          </p:cNvGraphicFramePr>
          <p:nvPr/>
        </p:nvGraphicFramePr>
        <p:xfrm>
          <a:off x="7090565" y="28296"/>
          <a:ext cx="1658127" cy="259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94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전파</a:t>
                      </a:r>
                      <a:endParaRPr lang="en-US" altLang="ko-KR" sz="800" b="1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광학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전장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CTO</a:t>
                      </a:r>
                      <a:endParaRPr lang="ko-KR" altLang="en-US" sz="800" b="1" kern="900" spc="-100" baseline="0" dirty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전자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생기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900" spc="-100" baseline="0" dirty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○</a:t>
                      </a:r>
                      <a:endParaRPr lang="en-US" altLang="ko-KR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△</a:t>
                      </a:r>
                      <a:endParaRPr kumimoji="0" lang="en-US" altLang="ko-KR" sz="9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 panose="020B0604020202020204" pitchFamily="34" charset="0"/>
                        <a:sym typeface="Wingdings" pitchFamily="2" charset="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X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  <a:sym typeface="Wingdings" pitchFamily="2" charset="2"/>
                        </a:rPr>
                        <a:t>X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" name="Text Box 22">
            <a:extLst>
              <a:ext uri="{FF2B5EF4-FFF2-40B4-BE49-F238E27FC236}">
                <a16:creationId xmlns:a16="http://schemas.microsoft.com/office/drawing/2014/main" id="{4943835B-8DA4-4869-8C18-DA8250B68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57" y="4444213"/>
            <a:ext cx="2193527" cy="23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0" rIns="9000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1" lang="es-419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PROBLEM</a:t>
            </a:r>
            <a:endParaRPr kumimoji="1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114F125-DEDC-4A5E-83D0-32A8D040BE99}"/>
              </a:ext>
            </a:extLst>
          </p:cNvPr>
          <p:cNvSpPr/>
          <p:nvPr/>
        </p:nvSpPr>
        <p:spPr>
          <a:xfrm>
            <a:off x="8543390" y="3093457"/>
            <a:ext cx="600604" cy="40664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3" name="Text Box 22">
            <a:extLst>
              <a:ext uri="{FF2B5EF4-FFF2-40B4-BE49-F238E27FC236}">
                <a16:creationId xmlns:a16="http://schemas.microsoft.com/office/drawing/2014/main" id="{8287475F-9343-43DB-A22C-AE7C32D6C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9853" y="2469063"/>
            <a:ext cx="3613965" cy="60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just">
              <a:defRPr/>
            </a:pPr>
            <a:r>
              <a:rPr lang="en-US" altLang="ko-KR" sz="11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REINICIO RAPIDO button added to the main toolbar of each station. It calls the vendor's own initialization path, so all modules, the MES handshake and the pallet dialog behave identically.</a:t>
            </a:r>
          </a:p>
        </p:txBody>
      </p:sp>
      <p:sp>
        <p:nvSpPr>
          <p:cNvPr id="46" name="Text Box 22">
            <a:extLst>
              <a:ext uri="{FF2B5EF4-FFF2-40B4-BE49-F238E27FC236}">
                <a16:creationId xmlns:a16="http://schemas.microsoft.com/office/drawing/2014/main" id="{FDA1CAA0-6C50-4F01-AABF-43A416B50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88" y="4753587"/>
            <a:ext cx="3136204" cy="1448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914400" latinLnBrk="1">
              <a:defRPr/>
            </a:pPr>
            <a:r>
              <a:rPr lang="en-US" altLang="ko-KR" sz="11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The vendor's initialization always runs its complete 24-node chain, with no path to resume without repeating checks that had already passed.</a:t>
            </a:r>
          </a:p>
          <a:p>
            <a:pPr defTabSz="914400" latinLnBrk="1">
              <a:defRPr/>
            </a:pPr>
            <a:endParaRPr lang="en-US" altLang="ko-KR" sz="11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  <a:sym typeface="Wingdings" pitchFamily="2" charset="2"/>
            </a:endParaRPr>
          </a:p>
          <a:p>
            <a:pPr defTabSz="914400" latinLnBrk="1">
              <a:defRPr/>
            </a:pPr>
            <a:r>
              <a:rPr lang="en-US" altLang="ko-KR" sz="11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Bottom Station has a restart feature, but it relies on a RestartProcess() method that the AcuraLibrary.dll of these stations does not declare.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2C7A66-96E5-67E7-0D50-F80DB89DD3EB}"/>
              </a:ext>
            </a:extLst>
          </p:cNvPr>
          <p:cNvSpPr txBox="1"/>
          <p:nvPr/>
        </p:nvSpPr>
        <p:spPr>
          <a:xfrm>
            <a:off x="4250616" y="576400"/>
            <a:ext cx="449807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555"/>
              </a:spcAft>
            </a:pP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Date : </a:t>
            </a:r>
            <a:r>
              <a:rPr lang="es-MX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18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/09/2026</a:t>
            </a:r>
            <a:r>
              <a:rPr lang="ko-KR" altLang="en-US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Writer : </a:t>
            </a:r>
            <a:r>
              <a:rPr lang="es-MX" altLang="ko-KR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Guillermo Carrillo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Division: 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CM</a:t>
            </a:r>
            <a:r>
              <a:rPr lang="ko-KR" altLang="en-US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</a:t>
            </a:r>
            <a:r>
              <a:rPr lang="ko-KR" altLang="en-US" sz="1000" spc="-29" dirty="0">
                <a:solidFill>
                  <a:prstClr val="black">
                    <a:lumMod val="65000"/>
                    <a:lumOff val="35000"/>
                  </a:prst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■ Team:</a:t>
            </a:r>
            <a:r>
              <a:rPr lang="ko-KR" altLang="en-US" sz="1000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b="1" spc="-29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Production</a:t>
            </a:r>
          </a:p>
        </p:txBody>
      </p:sp>
      <p:sp>
        <p:nvSpPr>
          <p:cNvPr id="41" name="Text Box 22">
            <a:extLst>
              <a:ext uri="{FF2B5EF4-FFF2-40B4-BE49-F238E27FC236}">
                <a16:creationId xmlns:a16="http://schemas.microsoft.com/office/drawing/2014/main" id="{281CC93F-E659-4A34-B26F-E7FDC768F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2320" y="4206240"/>
            <a:ext cx="2633472" cy="1463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defPPr>
              <a:defRPr lang="en-US"/>
            </a:defPPr>
            <a:lvl1pPr algn="just" eaLnBrk="0" hangingPunct="0">
              <a:defRPr kumimoji="1" sz="110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algn="l">
              <a:spcAft>
                <a:spcPts val="300"/>
              </a:spcAft>
              <a:buNone/>
            </a:pPr>
            <a:r>
              <a:rPr lang="en-US" altLang="ko-KR" sz="1400" b="1" dirty="0"/>
              <a:t>IMPACT: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altLang="ko-KR" sz="900" dirty="0"/>
              <a:t>2 Oct: 20,127 pcs (+20.7% vs 12 Aug) with no stop hours.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altLang="ko-KR" sz="900" dirty="0"/>
              <a:t>1 Oct: controlled material run (17,449 pcs), yet the best hour of all: 1,003 pcs.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n-US" altLang="ko-KR" sz="900" dirty="0"/>
              <a:t>Replicable to any station on the same SDK, ~30 min each.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7620" y="5919793"/>
            <a:ext cx="36086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LG스마트체 Regular" panose="020B0600000101010101" pitchFamily="34" charset="-127"/>
                <a:ea typeface="LG스마트체 Regular" panose="020B0600000101010101" pitchFamily="34" charset="-127"/>
              </a:rPr>
              <a:t>MES nodes are deliberately not skipped: skipping them left the station reporting ONLINE before the MES confirmed, and they cost no time.</a:t>
            </a:r>
            <a:endParaRPr lang="es-MX" sz="1100" dirty="0">
              <a:latin typeface="LG스마트체 Regular" panose="020B0600000101010101" pitchFamily="34" charset="-127"/>
              <a:ea typeface="LG스마트체 Regular" panose="020B0600000101010101" pitchFamily="34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96917" y="3764733"/>
            <a:ext cx="16228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LG스마트체 Regular" panose="020B0600000101010101" pitchFamily="34" charset="-127"/>
                <a:ea typeface="LG스마트체 Regular" panose="020B0600000101010101" pitchFamily="34" charset="-127"/>
              </a:rPr>
              <a:t>A flag makes only 3 of the 24 nodes return immediately: FilesMonitor, scanner connection and camera test. Everything else runs unchanged, including robot reset and NG discharge.</a:t>
            </a:r>
            <a:endParaRPr lang="es-MX" sz="1100" dirty="0">
              <a:latin typeface="LG스마트체 Regular" panose="020B0600000101010101" pitchFamily="34" charset="-127"/>
              <a:ea typeface="LG스마트체 Regular" panose="020B0600000101010101" pitchFamily="34" charset="-127"/>
            </a:endParaRPr>
          </a:p>
        </p:txBody>
      </p:sp>
      <p:graphicFrame>
        <p:nvGraphicFramePr>
          <p:cNvPr id="301" name="Production results table"/>
          <p:cNvGraphicFramePr>
            <a:graphicFrameLocks noGrp="1"/>
          </p:cNvGraphicFramePr>
          <p:nvPr/>
        </p:nvGraphicFramePr>
        <p:xfrm>
          <a:off x="7187184" y="2907792"/>
          <a:ext cx="2578608" cy="1216152"/>
        </p:xfrm>
        <a:graphic>
          <a:graphicData uri="http://schemas.openxmlformats.org/drawingml/2006/table">
            <a:tbl>
              <a:tblPr firstRow="1"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Line 1 (pcs)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12 Aug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 Oct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 Oct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Δ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Output/day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16,678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17,449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20,127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00703C"/>
                          </a:solidFill>
                          <a:latin typeface="Arial"/>
                          <a:cs typeface="Arial"/>
                        </a:rPr>
                        <a:t>+20.7%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Run rate/h*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738.5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785.5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838.6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00703C"/>
                          </a:solidFill>
                          <a:latin typeface="Arial"/>
                          <a:cs typeface="Arial"/>
                        </a:rPr>
                        <a:t>+13.6%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Best hour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869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1,003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977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00703C"/>
                          </a:solidFill>
                          <a:latin typeface="Arial"/>
                          <a:cs typeface="Arial"/>
                        </a:rPr>
                        <a:t>+12.4%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Hours ≥ 900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5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8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00703C"/>
                          </a:solidFill>
                          <a:latin typeface="Arial"/>
                          <a:cs typeface="Arial"/>
                        </a:rPr>
                        <a:t>+8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Stop hours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0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00703C"/>
                          </a:solidFill>
                          <a:latin typeface="Arial"/>
                          <a:cs typeface="Arial"/>
                        </a:rPr>
                        <a:t>-3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Lost to stops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~1,889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~2,442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~900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700" b="1" dirty="0">
                          <a:solidFill>
                            <a:srgbClr val="00703C"/>
                          </a:solidFill>
                          <a:latin typeface="Arial"/>
                          <a:cs typeface="Arial"/>
                        </a:rPr>
                        <a:t>-52%</a:t>
                      </a:r>
                    </a:p>
                  </a:txBody>
                  <a:tcPr marL="27432" marR="27432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2" name="Source note"/>
          <p:cNvSpPr txBox="1"/>
          <p:nvPr/>
        </p:nvSpPr>
        <p:spPr>
          <a:xfrm>
            <a:off x="7223760" y="6217920"/>
            <a:ext cx="2523744" cy="38404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en-US" altLang="ko-KR" sz="650" dirty="0">
                <a:solidFill>
                  <a:srgbClr val="7F7F7F"/>
                </a:solidFill>
              </a:rPr>
              <a:t>* Run rate = average of hours without stops. Δ = 2 Oct vs 12 Aug. Source: hourly production report, TOP TLA Line 1. 1 Oct ran a tightly controlled material (05-07 h estimated). Results reflect all updates combined.</a:t>
            </a:r>
          </a:p>
        </p:txBody>
      </p:sp>
      <p:sp>
        <p:nvSpPr>
          <p:cNvPr id="401" name="Added box 401"/>
          <p:cNvSpPr/>
          <p:nvPr/>
        </p:nvSpPr>
        <p:spPr>
          <a:xfrm>
            <a:off x="201168" y="3721608"/>
            <a:ext cx="2926080" cy="164592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altLang="ko-KR" sz="800" b="1" dirty="0">
                <a:solidFill>
                  <a:srgbClr val="595959"/>
                </a:solidFill>
                <a:latin typeface="Arial"/>
                <a:cs typeface="Arial"/>
              </a:rPr>
              <a:t>Baseline · Line 1, 12 Aug 2026</a:t>
            </a:r>
          </a:p>
        </p:txBody>
      </p:sp>
      <p:sp>
        <p:nvSpPr>
          <p:cNvPr id="402" name="Added box 402"/>
          <p:cNvSpPr/>
          <p:nvPr/>
        </p:nvSpPr>
        <p:spPr>
          <a:xfrm>
            <a:off x="201168" y="3904488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1100" b="1" dirty="0">
                <a:solidFill>
                  <a:srgbClr val="A50034"/>
                </a:solidFill>
                <a:latin typeface="Arial"/>
                <a:cs typeface="Arial"/>
              </a:rPr>
              <a:t>2.5-3 min</a:t>
            </a:r>
          </a:p>
          <a:p>
            <a:pPr algn="ctr"/>
            <a:r>
              <a:rPr lang="en-US" altLang="ko-KR" sz="700" dirty="0">
                <a:solidFill>
                  <a:srgbClr val="404040"/>
                </a:solidFill>
                <a:latin typeface="Arial"/>
                <a:cs typeface="Arial"/>
              </a:rPr>
              <a:t>lost on every restart</a:t>
            </a:r>
          </a:p>
        </p:txBody>
      </p:sp>
      <p:sp>
        <p:nvSpPr>
          <p:cNvPr id="403" name="Added box 403"/>
          <p:cNvSpPr/>
          <p:nvPr/>
        </p:nvSpPr>
        <p:spPr>
          <a:xfrm>
            <a:off x="1188720" y="3904488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1100" b="1" dirty="0">
                <a:solidFill>
                  <a:srgbClr val="A50034"/>
                </a:solidFill>
                <a:latin typeface="Arial"/>
                <a:cs typeface="Arial"/>
              </a:rPr>
              <a:t>~1,889 pcs</a:t>
            </a:r>
          </a:p>
          <a:p>
            <a:pPr algn="ctr"/>
            <a:r>
              <a:rPr lang="en-US" altLang="ko-KR" sz="700" dirty="0">
                <a:solidFill>
                  <a:srgbClr val="404040"/>
                </a:solidFill>
                <a:latin typeface="Arial"/>
                <a:cs typeface="Arial"/>
              </a:rPr>
              <a:t>lost to stops / day</a:t>
            </a:r>
          </a:p>
        </p:txBody>
      </p:sp>
      <p:sp>
        <p:nvSpPr>
          <p:cNvPr id="404" name="Added box 404"/>
          <p:cNvSpPr/>
          <p:nvPr/>
        </p:nvSpPr>
        <p:spPr>
          <a:xfrm>
            <a:off x="2176272" y="3904488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1100" b="1" dirty="0">
                <a:solidFill>
                  <a:srgbClr val="404040"/>
                </a:solidFill>
                <a:latin typeface="Arial"/>
                <a:cs typeface="Arial"/>
              </a:rPr>
              <a:t>869 pcs</a:t>
            </a:r>
          </a:p>
          <a:p>
            <a:pPr algn="ctr"/>
            <a:r>
              <a:rPr lang="en-US" altLang="ko-KR" sz="700" dirty="0">
                <a:solidFill>
                  <a:srgbClr val="404040"/>
                </a:solidFill>
                <a:latin typeface="Arial"/>
                <a:cs typeface="Arial"/>
              </a:rPr>
              <a:t>best hour of the day</a:t>
            </a:r>
          </a:p>
        </p:txBody>
      </p:sp>
      <p:sp>
        <p:nvSpPr>
          <p:cNvPr id="405" name="Added box 405"/>
          <p:cNvSpPr/>
          <p:nvPr/>
        </p:nvSpPr>
        <p:spPr>
          <a:xfrm>
            <a:off x="3310128" y="3474720"/>
            <a:ext cx="2011680" cy="164592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altLang="ko-KR" sz="800" b="1" dirty="0">
                <a:solidFill>
                  <a:srgbClr val="595959"/>
                </a:solidFill>
                <a:latin typeface="Arial"/>
                <a:cs typeface="Arial"/>
              </a:rPr>
              <a:t>Restart sequence after a stop</a:t>
            </a:r>
          </a:p>
        </p:txBody>
      </p:sp>
      <p:sp>
        <p:nvSpPr>
          <p:cNvPr id="406" name="Added box 406"/>
          <p:cNvSpPr/>
          <p:nvPr/>
        </p:nvSpPr>
        <p:spPr>
          <a:xfrm>
            <a:off x="3346704" y="3675887"/>
            <a:ext cx="1938528" cy="329184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800" b="1" dirty="0">
                <a:solidFill>
                  <a:srgbClr val="404040"/>
                </a:solidFill>
                <a:latin typeface="Arial"/>
                <a:cs typeface="Arial"/>
              </a:rPr>
              <a:t>Stop / alarm cleared</a:t>
            </a:r>
          </a:p>
        </p:txBody>
      </p:sp>
      <p:cxnSp>
        <p:nvCxnSpPr>
          <p:cNvPr id="407" name="Arrow 407"/>
          <p:cNvCxnSpPr/>
          <p:nvPr/>
        </p:nvCxnSpPr>
        <p:spPr>
          <a:xfrm>
            <a:off x="4315968" y="4005072"/>
            <a:ext cx="0" cy="100584"/>
          </a:xfrm>
          <a:prstGeom prst="straightConnector1">
            <a:avLst/>
          </a:prstGeom>
          <a:ln w="12700">
            <a:solidFill>
              <a:srgbClr val="7F7F7F"/>
            </a:solidFill>
            <a:tailEnd type="triangle" w="sm" len="sm"/>
          </a:ln>
        </p:spPr>
      </p:cxnSp>
      <p:sp>
        <p:nvSpPr>
          <p:cNvPr id="408" name="Added box 408"/>
          <p:cNvSpPr/>
          <p:nvPr/>
        </p:nvSpPr>
        <p:spPr>
          <a:xfrm>
            <a:off x="3346704" y="4105655"/>
            <a:ext cx="1938528" cy="329184"/>
          </a:xfrm>
          <a:prstGeom prst="roundRect">
            <a:avLst>
              <a:gd name="adj" fmla="val 12000"/>
            </a:avLst>
          </a:prstGeom>
          <a:solidFill>
            <a:srgbClr val="A50034"/>
          </a:solidFill>
          <a:ln w="635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800" b="1" dirty="0">
                <a:solidFill>
                  <a:srgbClr val="FFFFFF"/>
                </a:solidFill>
                <a:latin typeface="Arial"/>
                <a:cs typeface="Arial"/>
              </a:rPr>
              <a:t>REINICIO RAPIDO</a:t>
            </a:r>
          </a:p>
          <a:p>
            <a:pPr algn="ctr"/>
            <a:r>
              <a:rPr lang="en-US" altLang="ko-KR" sz="700" dirty="0">
                <a:solidFill>
                  <a:srgbClr val="FFFFFF"/>
                </a:solidFill>
                <a:latin typeface="Arial"/>
                <a:cs typeface="Arial"/>
              </a:rPr>
              <a:t>one click on the toolbar</a:t>
            </a:r>
          </a:p>
        </p:txBody>
      </p:sp>
      <p:cxnSp>
        <p:nvCxnSpPr>
          <p:cNvPr id="409" name="Arrow 409"/>
          <p:cNvCxnSpPr/>
          <p:nvPr/>
        </p:nvCxnSpPr>
        <p:spPr>
          <a:xfrm>
            <a:off x="4315968" y="4434840"/>
            <a:ext cx="0" cy="100584"/>
          </a:xfrm>
          <a:prstGeom prst="straightConnector1">
            <a:avLst/>
          </a:prstGeom>
          <a:ln w="12700">
            <a:solidFill>
              <a:srgbClr val="7F7F7F"/>
            </a:solidFill>
            <a:tailEnd type="triangle" w="sm" len="sm"/>
          </a:ln>
        </p:spPr>
      </p:cxnSp>
      <p:sp>
        <p:nvSpPr>
          <p:cNvPr id="410" name="Added box 410"/>
          <p:cNvSpPr/>
          <p:nvPr/>
        </p:nvSpPr>
        <p:spPr>
          <a:xfrm>
            <a:off x="3346704" y="4535423"/>
            <a:ext cx="1938528" cy="329184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800" b="1" dirty="0">
                <a:solidFill>
                  <a:srgbClr val="404040"/>
                </a:solidFill>
                <a:latin typeface="Arial"/>
                <a:cs typeface="Arial"/>
              </a:rPr>
              <a:t>3 of 24 nodes skipped</a:t>
            </a:r>
          </a:p>
          <a:p>
            <a:pPr algn="ctr"/>
            <a:r>
              <a:rPr lang="en-US" altLang="ko-KR" sz="650" dirty="0">
                <a:solidFill>
                  <a:srgbClr val="404040"/>
                </a:solidFill>
                <a:latin typeface="Arial"/>
                <a:cs typeface="Arial"/>
              </a:rPr>
              <a:t>FilesMonitor · scanner · camera test</a:t>
            </a:r>
          </a:p>
        </p:txBody>
      </p:sp>
      <p:cxnSp>
        <p:nvCxnSpPr>
          <p:cNvPr id="411" name="Arrow 411"/>
          <p:cNvCxnSpPr/>
          <p:nvPr/>
        </p:nvCxnSpPr>
        <p:spPr>
          <a:xfrm>
            <a:off x="4315968" y="4864607"/>
            <a:ext cx="0" cy="100584"/>
          </a:xfrm>
          <a:prstGeom prst="straightConnector1">
            <a:avLst/>
          </a:prstGeom>
          <a:ln w="12700">
            <a:solidFill>
              <a:srgbClr val="7F7F7F"/>
            </a:solidFill>
            <a:tailEnd type="triangle" w="sm" len="sm"/>
          </a:ln>
        </p:spPr>
      </p:cxnSp>
      <p:sp>
        <p:nvSpPr>
          <p:cNvPr id="412" name="Added box 412"/>
          <p:cNvSpPr/>
          <p:nvPr/>
        </p:nvSpPr>
        <p:spPr>
          <a:xfrm>
            <a:off x="3346704" y="4965192"/>
            <a:ext cx="1938528" cy="329184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800" b="1" dirty="0">
                <a:solidFill>
                  <a:srgbClr val="404040"/>
                </a:solidFill>
                <a:latin typeface="Arial"/>
                <a:cs typeface="Arial"/>
              </a:rPr>
              <a:t>21 nodes run as usual</a:t>
            </a:r>
          </a:p>
          <a:p>
            <a:pPr algn="ctr"/>
            <a:r>
              <a:rPr lang="en-US" altLang="ko-KR" sz="650" dirty="0">
                <a:solidFill>
                  <a:srgbClr val="404040"/>
                </a:solidFill>
                <a:latin typeface="Arial"/>
                <a:cs typeface="Arial"/>
              </a:rPr>
              <a:t>MES · robot reset · NG discharge</a:t>
            </a:r>
          </a:p>
        </p:txBody>
      </p:sp>
      <p:cxnSp>
        <p:nvCxnSpPr>
          <p:cNvPr id="413" name="Arrow 413"/>
          <p:cNvCxnSpPr/>
          <p:nvPr/>
        </p:nvCxnSpPr>
        <p:spPr>
          <a:xfrm>
            <a:off x="4315968" y="5294376"/>
            <a:ext cx="0" cy="100584"/>
          </a:xfrm>
          <a:prstGeom prst="straightConnector1">
            <a:avLst/>
          </a:prstGeom>
          <a:ln w="12700">
            <a:solidFill>
              <a:srgbClr val="7F7F7F"/>
            </a:solidFill>
            <a:tailEnd type="triangle" w="sm" len="sm"/>
          </a:ln>
        </p:spPr>
      </p:cxnSp>
      <p:sp>
        <p:nvSpPr>
          <p:cNvPr id="414" name="Added box 414"/>
          <p:cNvSpPr/>
          <p:nvPr/>
        </p:nvSpPr>
        <p:spPr>
          <a:xfrm>
            <a:off x="3346704" y="5394959"/>
            <a:ext cx="1938528" cy="329184"/>
          </a:xfrm>
          <a:prstGeom prst="roundRect">
            <a:avLst>
              <a:gd name="adj" fmla="val 12000"/>
            </a:avLst>
          </a:prstGeom>
          <a:solidFill>
            <a:srgbClr val="00703C"/>
          </a:solidFill>
          <a:ln w="635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altLang="ko-KR" sz="800" b="1" dirty="0">
                <a:solidFill>
                  <a:srgbClr val="FFFFFF"/>
                </a:solidFill>
                <a:latin typeface="Arial"/>
                <a:cs typeface="Arial"/>
              </a:rPr>
              <a:t>Running in 10-15 s</a:t>
            </a:r>
          </a:p>
        </p:txBody>
      </p:sp>
    </p:spTree>
    <p:extLst>
      <p:ext uri="{BB962C8B-B14F-4D97-AF65-F5344CB8AC3E}">
        <p14:creationId xmlns:p14="http://schemas.microsoft.com/office/powerpoint/2010/main" val="405597177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9b8a968-831d-4cfc-b1f9-4367a1331151}" enabled="1" method="Privileged" siteId="{e6c7989d-a5fe-4b7b-a335-3288406db2fd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895</TotalTime>
  <Words>528</Words>
  <Application>Microsoft Office PowerPoint</Application>
  <PresentationFormat>A4 Paper (210x297 mm)</PresentationFormat>
  <Paragraphs>103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바탕</vt:lpstr>
      <vt:lpstr>LG스마트체 Regular</vt:lpstr>
      <vt:lpstr>LG스마트체 SemiBold</vt:lpstr>
      <vt:lpstr>LG스마트체2.0 Bold</vt:lpstr>
      <vt:lpstr>맑은 고딕</vt:lpstr>
      <vt:lpstr>Arial</vt:lpstr>
      <vt:lpstr>Arial Narrow</vt:lpstr>
      <vt:lpstr>Wingdings</vt:lpstr>
      <vt:lpstr>3_Office 테마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haeyun Jeong(정해윤)</dc:creator>
  <cp:lastModifiedBy>Gerardo Ulises Nieto Sanchez</cp:lastModifiedBy>
  <cp:revision>54</cp:revision>
  <dcterms:created xsi:type="dcterms:W3CDTF">2024-01-23T23:13:38Z</dcterms:created>
  <dcterms:modified xsi:type="dcterms:W3CDTF">2026-10-05T14:52:26Z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9b8a968-831d-4cfc-b1f9-4367a1331151_Enabled">
    <vt:lpwstr>true</vt:lpwstr>
  </property>
  <property fmtid="{D5CDD505-2E9C-101B-9397-08002B2CF9AE}" pid="3" name="MSIP_Label_99b8a968-831d-4cfc-b1f9-4367a1331151_SetDate">
    <vt:lpwstr>2024-05-04T19:05:14Z</vt:lpwstr>
  </property>
  <property fmtid="{D5CDD505-2E9C-101B-9397-08002B2CF9AE}" pid="4" name="MSIP_Label_99b8a968-831d-4cfc-b1f9-4367a1331151_Method">
    <vt:lpwstr>Privileged</vt:lpwstr>
  </property>
  <property fmtid="{D5CDD505-2E9C-101B-9397-08002B2CF9AE}" pid="5" name="MSIP_Label_99b8a968-831d-4cfc-b1f9-4367a1331151_Name">
    <vt:lpwstr>Confidential</vt:lpwstr>
  </property>
  <property fmtid="{D5CDD505-2E9C-101B-9397-08002B2CF9AE}" pid="6" name="MSIP_Label_99b8a968-831d-4cfc-b1f9-4367a1331151_SiteId">
    <vt:lpwstr>e6c7989d-a5fe-4b7b-a335-3288406db2fd</vt:lpwstr>
  </property>
  <property fmtid="{D5CDD505-2E9C-101B-9397-08002B2CF9AE}" pid="7" name="MSIP_Label_99b8a968-831d-4cfc-b1f9-4367a1331151_ActionId">
    <vt:lpwstr>66310290-fea6-40d2-83bd-c8b58c1b5aea</vt:lpwstr>
  </property>
  <property fmtid="{D5CDD505-2E9C-101B-9397-08002B2CF9AE}" pid="8" name="MSIP_Label_99b8a968-831d-4cfc-b1f9-4367a1331151_ContentBits">
    <vt:lpwstr>3</vt:lpwstr>
  </property>
</Properties>
</file>